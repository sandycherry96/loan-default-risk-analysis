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9" r:id="rId2"/>
    <p:sldId id="278" r:id="rId3"/>
    <p:sldId id="256" r:id="rId4"/>
    <p:sldId id="279" r:id="rId5"/>
    <p:sldId id="280" r:id="rId6"/>
    <p:sldId id="260" r:id="rId7"/>
    <p:sldId id="262" r:id="rId8"/>
    <p:sldId id="261" r:id="rId9"/>
    <p:sldId id="263" r:id="rId10"/>
    <p:sldId id="264" r:id="rId11"/>
    <p:sldId id="265" r:id="rId12"/>
    <p:sldId id="266" r:id="rId13"/>
    <p:sldId id="267" r:id="rId14"/>
    <p:sldId id="268" r:id="rId15"/>
    <p:sldId id="269" r:id="rId16"/>
    <p:sldId id="270" r:id="rId17"/>
    <p:sldId id="275" r:id="rId18"/>
    <p:sldId id="282" r:id="rId19"/>
    <p:sldId id="283" r:id="rId20"/>
    <p:sldId id="284" r:id="rId21"/>
    <p:sldId id="285" r:id="rId22"/>
    <p:sldId id="271" r:id="rId23"/>
    <p:sldId id="272" r:id="rId24"/>
    <p:sldId id="273" r:id="rId25"/>
    <p:sldId id="274" r:id="rId26"/>
    <p:sldId id="276" r:id="rId27"/>
    <p:sldId id="277" r:id="rId28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F5963"/>
    <a:srgbClr val="CC0000"/>
    <a:srgbClr val="3333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95" autoAdjust="0"/>
    <p:restoredTop sz="94660"/>
  </p:normalViewPr>
  <p:slideViewPr>
    <p:cSldViewPr snapToGrid="0">
      <p:cViewPr varScale="1">
        <p:scale>
          <a:sx n="63" d="100"/>
          <a:sy n="63" d="100"/>
        </p:scale>
        <p:origin x="76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5FCAB3-2AC2-4D41-92B7-A47CBEE4F03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D0391B-7546-4530-83B9-D2C41D1B10A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F115C87-F59D-4BE5-80A7-C53AAEFD44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56C24-66B3-4808-8C39-E70052D1FDF7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2AFA2A-71DA-4BFE-BFEF-8F949E003FC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62C7CB-E317-48B7-8EDB-FC3A7C3B49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FB81-912C-4AAB-855B-BEDF50B22D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2678082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076BA1-61DD-487F-AA69-765646070F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4993CCB-3D18-42C8-890B-48A1F06178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4C5288-9F7A-4756-BA79-B1052247DB8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56C24-66B3-4808-8C39-E70052D1FDF7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BA5E45F-5CB3-440E-883B-F6E2DC27F25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CD1F56D-B232-4ECC-AF50-5808BDB8DA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FB81-912C-4AAB-855B-BEDF50B22D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582400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396A556-2F73-4A21-A79D-14F04F30E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2E7B187-8C75-4F36-9B33-6F4A741255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0A639-1FFF-4B36-B6F5-F7BAD668BB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56C24-66B3-4808-8C39-E70052D1FDF7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E87A054-79FA-45E5-B293-74002334A5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82DF69-A758-4AF8-9C5F-006668DBDC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FB81-912C-4AAB-855B-BEDF50B22D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988462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78847-BD7F-428D-93D6-F0EEC4161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59A299A-E2FA-4B9B-9682-8F11A46D57A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3D8779-FB13-45D8-B7A8-A61F25B65C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77B1EF1-115C-4DBF-B6A6-97C62C06D7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56C24-66B3-4808-8C39-E70052D1FDF7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A73B583-0446-4CE5-8E36-553A55DCC7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B47C39-AFB4-4A8F-8134-9D42CD87FF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FB81-912C-4AAB-855B-BEDF50B22D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170713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8C35003-8819-432C-A8F8-FF0B72C259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095EC87-F07F-41D6-B3B4-008603CCEA0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E096DBC-AEFA-4848-AB09-0732A4EE6E56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95B8B1D-4673-4EB8-8B3E-9CEDAF29D20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EEB63EA-A9B0-47BC-A1CB-B66F5BBEA420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74D9CDF-2B4C-42CA-8A93-8A5941DF19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56C24-66B3-4808-8C39-E70052D1FDF7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A4C0BB47-F5C1-46E6-BBC4-7413D220822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6E87E21-EA34-4939-B029-4822904012A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FB81-912C-4AAB-855B-BEDF50B22D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06386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856988-C81F-4AB6-B403-27582F9F7B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A25FB3F4-6B18-4C51-B1CF-9C0A289CDF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56C24-66B3-4808-8C39-E70052D1FDF7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29D799D-C477-4228-9F8B-DFB793EFE5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3F83CD2-AC68-4B02-B95C-EB56A0114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FB81-912C-4AAB-855B-BEDF50B22D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9543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763BDC0-EBC6-4466-AB3D-78A6F6A4CB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56C24-66B3-4808-8C39-E70052D1FDF7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3C02C9BB-7BC1-4302-AD8D-DE9E323E5BB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F7E3320-01C6-4A5E-A82C-6A6CF7DAE1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FB81-912C-4AAB-855B-BEDF50B22D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3297203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74B2CB-15C6-49A8-81D5-152DF4CFDE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D601A45-A96A-44AF-8D89-BD748A00453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D367533-946E-4041-BD54-F83FA35BF9D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2FC167-1C1A-483E-BA53-750E933BEB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56C24-66B3-4808-8C39-E70052D1FDF7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37DDDEA-F191-434D-9E92-58CDB1644F6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CDCF23B-1E89-4938-96EB-F3C5AA6FB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FB81-912C-4AAB-855B-BEDF50B22D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488188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386B29-E07A-4A6A-B9D0-A5E98AAA9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2EC1C8A1-FF87-4C74-8622-1589F7D5F39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A7F131-3D21-4CD7-A895-0D338C2E84E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C8646A1-A0EB-4EBB-A71D-41E34894A37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56C24-66B3-4808-8C39-E70052D1FDF7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F17A794-1D66-4A67-B0F9-19055A7F74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5B4603E-3989-4FC9-B34E-F4FB13431C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FB81-912C-4AAB-855B-BEDF50B22D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2503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D34D38-888C-4BDC-8795-B0F931B76D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32906EB-C4B2-47F8-9DF0-8F1533D431C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6A10AF8-A691-4CEE-89DB-3E16BA25FF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56C24-66B3-4808-8C39-E70052D1FDF7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496245E-5230-431A-A3A8-F54347483A6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E3BAB2-9948-445C-A6DC-473BB66FD0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FB81-912C-4AAB-855B-BEDF50B22D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3914699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1E99993F-479D-475D-BCB6-6CB8C681C04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832D95D-8A64-4C2D-814B-1B94E0653CC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5C0D88-24DC-4195-B40C-E043C70AD8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D56C24-66B3-4808-8C39-E70052D1FDF7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4EEFEE2-22F1-4187-8DA2-5AC689D444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58BABB-FC41-4EDB-9DD7-8780E2586F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6AAFB81-912C-4AAB-855B-BEDF50B22D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5768862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0B7935C-A54A-4EDD-9172-94AE58123E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D49BE60-DF23-4AEA-AAFB-84DF25DFA5B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D96293-0EB9-47C1-BFDC-884FF7C2927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BD56C24-66B3-4808-8C39-E70052D1FDF7}" type="datetimeFigureOut">
              <a:rPr lang="en-US" smtClean="0"/>
              <a:t>12/7/2025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624638A-8322-4267-B296-C7390AD4A68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17B0808-6AF8-4F76-8DBA-34BCDAB3AB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6AAFB81-912C-4AAB-855B-BEDF50B22DA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150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31567-243C-4CF8-971F-63B35EBE47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1417637"/>
          </a:xfrm>
        </p:spPr>
        <p:txBody>
          <a:bodyPr>
            <a:noAutofit/>
          </a:bodyPr>
          <a:lstStyle/>
          <a:p>
            <a:r>
              <a:rPr lang="en-US" sz="5400" b="1" dirty="0">
                <a:solidFill>
                  <a:srgbClr val="0F5963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Loan Analysis &amp; Insights for Risk Identification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90E2AA-2BC4-4827-B2FC-214BE3D3AA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988118"/>
            <a:ext cx="9144000" cy="1655762"/>
          </a:xfrm>
        </p:spPr>
        <p:txBody>
          <a:bodyPr>
            <a:normAutofit fontScale="92500" lnSpcReduction="10000"/>
          </a:bodyPr>
          <a:lstStyle/>
          <a:p>
            <a:r>
              <a:rPr lang="en-US" sz="3200" b="1" dirty="0">
                <a:solidFill>
                  <a:srgbClr val="0F5963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By - Sandeep Kumar</a:t>
            </a:r>
          </a:p>
          <a:p>
            <a:endParaRPr lang="en-US" dirty="0">
              <a:solidFill>
                <a:schemeClr val="accent5">
                  <a:lumMod val="50000"/>
                </a:schemeClr>
              </a:solidFill>
              <a:latin typeface="Amazon Ember Display Heavy" panose="020F0803020204020204" pitchFamily="34" charset="0"/>
              <a:ea typeface="Amazon Ember Display Heavy" panose="020F0803020204020204" pitchFamily="34" charset="0"/>
              <a:cs typeface="Amazon Ember Display Heavy" panose="020F0803020204020204" pitchFamily="34" charset="0"/>
            </a:endParaRPr>
          </a:p>
          <a:p>
            <a:r>
              <a:rPr lang="en-US" sz="2600" b="1" dirty="0">
                <a:solidFill>
                  <a:srgbClr val="CC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Tools Used</a:t>
            </a:r>
            <a:r>
              <a:rPr lang="en-US" sz="2600" b="1" dirty="0">
                <a:solidFill>
                  <a:schemeClr val="accent5">
                    <a:lumMod val="50000"/>
                  </a:schemeClr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:</a:t>
            </a:r>
            <a:br>
              <a:rPr lang="en-US" sz="2600" b="1" dirty="0">
                <a:solidFill>
                  <a:schemeClr val="accent5">
                    <a:lumMod val="50000"/>
                  </a:schemeClr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</a:br>
            <a:r>
              <a:rPr lang="en-US" sz="2600" b="1" dirty="0">
                <a:solidFill>
                  <a:srgbClr val="0F5963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Python | Pandas | NumPy | Seaborn | SQL | Power BI | Excel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5129915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8" name="Picture 4" descr="Download Microsoft Excel Logo in SVG ...">
            <a:extLst>
              <a:ext uri="{FF2B5EF4-FFF2-40B4-BE49-F238E27FC236}">
                <a16:creationId xmlns:a16="http://schemas.microsoft.com/office/drawing/2014/main" id="{4647F2E8-9393-47B9-AD51-42C00FEDD61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1535226"/>
            <a:ext cx="2748197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4" name="Picture 10">
            <a:extLst>
              <a:ext uri="{FF2B5EF4-FFF2-40B4-BE49-F238E27FC236}">
                <a16:creationId xmlns:a16="http://schemas.microsoft.com/office/drawing/2014/main" id="{5D97D792-9B15-4955-9BFC-0EE9C2CBB0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057727" y="1672386"/>
            <a:ext cx="1554480" cy="15544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38" name="Picture 14" descr="SQL icon in Windows 11 Color Style">
            <a:extLst>
              <a:ext uri="{FF2B5EF4-FFF2-40B4-BE49-F238E27FC236}">
                <a16:creationId xmlns:a16="http://schemas.microsoft.com/office/drawing/2014/main" id="{0ED872F3-EDF9-453E-9E06-228B55C801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921737" y="1535226"/>
            <a:ext cx="1828800" cy="1828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40" name="Picture 16">
            <a:extLst>
              <a:ext uri="{FF2B5EF4-FFF2-40B4-BE49-F238E27FC236}">
                <a16:creationId xmlns:a16="http://schemas.microsoft.com/office/drawing/2014/main" id="{3E1A4FD2-72C0-4EE6-9297-CA5BD028FF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060066" y="1500444"/>
            <a:ext cx="1737360" cy="173736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0" name="Title 1">
            <a:extLst>
              <a:ext uri="{FF2B5EF4-FFF2-40B4-BE49-F238E27FC236}">
                <a16:creationId xmlns:a16="http://schemas.microsoft.com/office/drawing/2014/main" id="{3E056737-AE2D-4A63-9EC4-D7B588D14B4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36006" y="535454"/>
            <a:ext cx="9144000" cy="662006"/>
          </a:xfrm>
        </p:spPr>
        <p:txBody>
          <a:bodyPr>
            <a:noAutofit/>
          </a:bodyPr>
          <a:lstStyle/>
          <a:p>
            <a:pPr algn="l"/>
            <a:r>
              <a:rPr lang="en-US" sz="3200" dirty="0">
                <a:solidFill>
                  <a:srgbClr val="CC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End-to-End Data Analysis Workflow </a:t>
            </a:r>
            <a:br>
              <a:rPr lang="en-US" sz="2800" dirty="0">
                <a:solidFill>
                  <a:srgbClr val="CC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</a:br>
            <a:r>
              <a:rPr lang="en-US" sz="2800" dirty="0">
                <a:solidFill>
                  <a:srgbClr val="CC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(Excel → </a:t>
            </a:r>
            <a:r>
              <a:rPr lang="en-US" sz="3600" dirty="0">
                <a:solidFill>
                  <a:srgbClr val="CC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Python</a:t>
            </a:r>
            <a:r>
              <a:rPr lang="en-US" sz="2800" dirty="0">
                <a:solidFill>
                  <a:srgbClr val="CC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 → SQL → Power BI)</a:t>
            </a:r>
            <a:endParaRPr lang="en-US" sz="2800" b="1" dirty="0">
              <a:solidFill>
                <a:srgbClr val="CC0000"/>
              </a:solidFill>
              <a:latin typeface="Amazon Ember Display Heavy" panose="020F0803020204020204" pitchFamily="34" charset="0"/>
              <a:ea typeface="Amazon Ember Display Heavy" panose="020F0803020204020204" pitchFamily="34" charset="0"/>
              <a:cs typeface="Amazon Ember Display Heavy" panose="020F0803020204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83D686-05DB-47D6-AAFD-2A43828820FF}"/>
              </a:ext>
            </a:extLst>
          </p:cNvPr>
          <p:cNvSpPr txBox="1"/>
          <p:nvPr/>
        </p:nvSpPr>
        <p:spPr>
          <a:xfrm>
            <a:off x="426297" y="3237804"/>
            <a:ext cx="24231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solidFill>
                  <a:srgbClr val="0F5963"/>
                </a:solidFill>
                <a:latin typeface="Montserrat" panose="00000500000000000000" pitchFamily="2" charset="0"/>
              </a:rPr>
              <a:t>Explore,understand</a:t>
            </a:r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, validate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FA7B725B-33AD-457E-BAA4-57BBFA10ED4C}"/>
              </a:ext>
            </a:extLst>
          </p:cNvPr>
          <p:cNvSpPr txBox="1"/>
          <p:nvPr/>
        </p:nvSpPr>
        <p:spPr>
          <a:xfrm>
            <a:off x="3843811" y="3237804"/>
            <a:ext cx="24231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Clean, transform, </a:t>
            </a:r>
          </a:p>
          <a:p>
            <a:r>
              <a:rPr lang="en-US" sz="1600" b="1" dirty="0" err="1">
                <a:solidFill>
                  <a:srgbClr val="0F5963"/>
                </a:solidFill>
                <a:latin typeface="Montserrat" panose="00000500000000000000" pitchFamily="2" charset="0"/>
              </a:rPr>
              <a:t>analyse</a:t>
            </a:r>
            <a:endParaRPr lang="en-US" sz="1600" b="1" dirty="0">
              <a:solidFill>
                <a:srgbClr val="0F5963"/>
              </a:solidFill>
              <a:latin typeface="Montserrat" panose="00000500000000000000" pitchFamily="2" charset="0"/>
            </a:endParaRP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AE172A61-4023-4D64-95B8-CF11B3FB3C61}"/>
              </a:ext>
            </a:extLst>
          </p:cNvPr>
          <p:cNvSpPr txBox="1"/>
          <p:nvPr/>
        </p:nvSpPr>
        <p:spPr>
          <a:xfrm>
            <a:off x="9872231" y="3237804"/>
            <a:ext cx="24231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 err="1">
                <a:solidFill>
                  <a:srgbClr val="0F5963"/>
                </a:solidFill>
                <a:latin typeface="Montserrat" panose="00000500000000000000" pitchFamily="2" charset="0"/>
              </a:rPr>
              <a:t>Visualise</a:t>
            </a:r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, present, deliver insights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DC0CB3C-B484-4895-9DFF-EE3E0A292DDB}"/>
              </a:ext>
            </a:extLst>
          </p:cNvPr>
          <p:cNvSpPr txBox="1"/>
          <p:nvPr/>
        </p:nvSpPr>
        <p:spPr>
          <a:xfrm>
            <a:off x="7022996" y="3237804"/>
            <a:ext cx="242316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Store, query, </a:t>
            </a:r>
            <a:r>
              <a:rPr lang="en-US" sz="1600" b="1" dirty="0" err="1">
                <a:solidFill>
                  <a:srgbClr val="0F5963"/>
                </a:solidFill>
                <a:latin typeface="Montserrat" panose="00000500000000000000" pitchFamily="2" charset="0"/>
              </a:rPr>
              <a:t>optimise</a:t>
            </a:r>
            <a:endParaRPr lang="en-US" sz="1600" b="1" dirty="0">
              <a:solidFill>
                <a:srgbClr val="0F5963"/>
              </a:solidFill>
              <a:latin typeface="Montserrat" panose="00000500000000000000" pitchFamily="2" charset="0"/>
            </a:endParaRPr>
          </a:p>
        </p:txBody>
      </p:sp>
      <p:cxnSp>
        <p:nvCxnSpPr>
          <p:cNvPr id="16" name="Straight Arrow Connector 15">
            <a:extLst>
              <a:ext uri="{FF2B5EF4-FFF2-40B4-BE49-F238E27FC236}">
                <a16:creationId xmlns:a16="http://schemas.microsoft.com/office/drawing/2014/main" id="{C9A9829C-86E7-4AD7-9070-097613F846B8}"/>
              </a:ext>
            </a:extLst>
          </p:cNvPr>
          <p:cNvCxnSpPr/>
          <p:nvPr/>
        </p:nvCxnSpPr>
        <p:spPr>
          <a:xfrm>
            <a:off x="2971888" y="2449626"/>
            <a:ext cx="600892" cy="0"/>
          </a:xfrm>
          <a:prstGeom prst="straightConnector1">
            <a:avLst/>
          </a:prstGeom>
          <a:ln w="444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26AE07C8-E4FA-48CE-80E0-B4244789CFD9}"/>
              </a:ext>
            </a:extLst>
          </p:cNvPr>
          <p:cNvCxnSpPr/>
          <p:nvPr/>
        </p:nvCxnSpPr>
        <p:spPr>
          <a:xfrm>
            <a:off x="5966526" y="2449626"/>
            <a:ext cx="600892" cy="0"/>
          </a:xfrm>
          <a:prstGeom prst="straightConnector1">
            <a:avLst/>
          </a:prstGeom>
          <a:ln w="444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A62CC20D-D530-4BEB-AF05-576D173D5611}"/>
              </a:ext>
            </a:extLst>
          </p:cNvPr>
          <p:cNvCxnSpPr/>
          <p:nvPr/>
        </p:nvCxnSpPr>
        <p:spPr>
          <a:xfrm>
            <a:off x="9104856" y="2449626"/>
            <a:ext cx="600892" cy="0"/>
          </a:xfrm>
          <a:prstGeom prst="straightConnector1">
            <a:avLst/>
          </a:prstGeom>
          <a:ln w="44450"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4" name="TextBox 33">
            <a:extLst>
              <a:ext uri="{FF2B5EF4-FFF2-40B4-BE49-F238E27FC236}">
                <a16:creationId xmlns:a16="http://schemas.microsoft.com/office/drawing/2014/main" id="{D2025B2C-CB50-4D3F-8644-DAC2B100B621}"/>
              </a:ext>
            </a:extLst>
          </p:cNvPr>
          <p:cNvSpPr txBox="1"/>
          <p:nvPr/>
        </p:nvSpPr>
        <p:spPr>
          <a:xfrm>
            <a:off x="235816" y="5101386"/>
            <a:ext cx="1146142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b="1" dirty="0">
                <a:solidFill>
                  <a:srgbClr val="CC0000"/>
                </a:solidFill>
                <a:latin typeface="Montserrat" panose="00000500000000000000" pitchFamily="2" charset="0"/>
              </a:rPr>
              <a:t>Raw Data → Processing &amp; Analysis → Database → Dashboard &amp; Insights</a:t>
            </a:r>
          </a:p>
          <a:p>
            <a:endParaRPr lang="en-US" sz="1600" b="1" dirty="0">
              <a:solidFill>
                <a:srgbClr val="0F5963"/>
              </a:solidFill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68153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31567-243C-4CF8-971F-63B35EBE47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47040" y="544407"/>
            <a:ext cx="9144000" cy="662006"/>
          </a:xfrm>
        </p:spPr>
        <p:txBody>
          <a:bodyPr>
            <a:normAutofit/>
          </a:bodyPr>
          <a:lstStyle/>
          <a:p>
            <a:pPr algn="l"/>
            <a:r>
              <a:rPr lang="en-US" sz="3600" b="1" dirty="0">
                <a:solidFill>
                  <a:srgbClr val="C0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Problem</a:t>
            </a:r>
            <a:r>
              <a:rPr lang="en-US" sz="4000" b="1" dirty="0">
                <a:solidFill>
                  <a:srgbClr val="C0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 Statement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90E2AA-2BC4-4827-B2FC-214BE3D3AA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7040" y="1442812"/>
            <a:ext cx="11226800" cy="5008788"/>
          </a:xfrm>
        </p:spPr>
        <p:txBody>
          <a:bodyPr>
            <a:normAutofit fontScale="85000" lnSpcReduction="20000"/>
          </a:bodyPr>
          <a:lstStyle/>
          <a:p>
            <a:pPr algn="l"/>
            <a:r>
              <a:rPr lang="en-US" b="1" dirty="0">
                <a:solidFill>
                  <a:srgbClr val="0F5963"/>
                </a:solidFill>
                <a:latin typeface="Montserrat" panose="020B0604020202020204" pitchFamily="2" charset="0"/>
                <a:ea typeface="Amazon Ember Medium" panose="020B0603020204030204" pitchFamily="34" charset="0"/>
                <a:cs typeface="Amazon Ember Medium" panose="020B0603020204030204" pitchFamily="34" charset="0"/>
              </a:rPr>
              <a:t>Banks give loans to many customers, but some customers do not repay, which</a:t>
            </a:r>
          </a:p>
          <a:p>
            <a:pPr algn="l"/>
            <a:r>
              <a:rPr lang="en-US" b="1" dirty="0">
                <a:solidFill>
                  <a:srgbClr val="0F5963"/>
                </a:solidFill>
                <a:latin typeface="Montserrat" panose="020B0604020202020204" pitchFamily="2" charset="0"/>
                <a:ea typeface="Amazon Ember Medium" panose="020B0603020204030204" pitchFamily="34" charset="0"/>
                <a:cs typeface="Amazon Ember Medium" panose="020B0603020204030204" pitchFamily="34" charset="0"/>
              </a:rPr>
              <a:t> causes financial loss.</a:t>
            </a:r>
          </a:p>
          <a:p>
            <a:pPr algn="l"/>
            <a:endParaRPr lang="en-US" b="1" dirty="0">
              <a:solidFill>
                <a:srgbClr val="0F5963"/>
              </a:solidFill>
              <a:latin typeface="Montserrat" panose="020B0604020202020204" pitchFamily="2" charset="0"/>
              <a:ea typeface="Amazon Ember Medium" panose="020B0603020204030204" pitchFamily="34" charset="0"/>
              <a:cs typeface="Amazon Ember Medium" panose="020B0603020204030204" pitchFamily="34" charset="0"/>
            </a:endParaRPr>
          </a:p>
          <a:p>
            <a:pPr algn="l"/>
            <a:r>
              <a:rPr lang="en-US" dirty="0">
                <a:solidFill>
                  <a:srgbClr val="0F5963"/>
                </a:solidFill>
                <a:latin typeface="Montserrat" panose="00000500000000000000" pitchFamily="2" charset="0"/>
              </a:rPr>
              <a:t>This project aims to: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F5963"/>
                </a:solidFill>
                <a:latin typeface="Montserrat" panose="00000500000000000000" pitchFamily="2" charset="0"/>
              </a:rPr>
              <a:t>Analyze customer and loan-related data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F5963"/>
                </a:solidFill>
                <a:latin typeface="Montserrat" panose="00000500000000000000" pitchFamily="2" charset="0"/>
              </a:rPr>
              <a:t>Identify key factors that influence default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F5963"/>
                </a:solidFill>
                <a:latin typeface="Montserrat" panose="00000500000000000000" pitchFamily="2" charset="0"/>
              </a:rPr>
              <a:t>Detect high-risk borrower profiles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F5963"/>
                </a:solidFill>
                <a:latin typeface="Montserrat" panose="00000500000000000000" pitchFamily="2" charset="0"/>
              </a:rPr>
              <a:t>Provide actionable insights that help minimize losses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F5963"/>
                </a:solidFill>
                <a:latin typeface="Montserrat" panose="00000500000000000000" pitchFamily="2" charset="0"/>
              </a:rPr>
              <a:t>Support better credit decision-making using data</a:t>
            </a:r>
          </a:p>
          <a:p>
            <a:pPr algn="l"/>
            <a:endParaRPr lang="en-US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pPr algn="l"/>
            <a:r>
              <a:rPr lang="en-US" b="1" dirty="0">
                <a:solidFill>
                  <a:srgbClr val="0F5963"/>
                </a:solidFill>
                <a:latin typeface="Montserrat" panose="00000500000000000000" pitchFamily="2" charset="0"/>
              </a:rPr>
              <a:t>Business Impact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F5963"/>
                </a:solidFill>
                <a:latin typeface="Montserrat" panose="00000500000000000000" pitchFamily="2" charset="0"/>
              </a:rPr>
              <a:t>Improve approval quality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F5963"/>
                </a:solidFill>
                <a:latin typeface="Montserrat" panose="00000500000000000000" pitchFamily="2" charset="0"/>
              </a:rPr>
              <a:t>Reduce risk exposure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F5963"/>
                </a:solidFill>
                <a:latin typeface="Montserrat" panose="00000500000000000000" pitchFamily="2" charset="0"/>
              </a:rPr>
              <a:t>Enhance credit policies using data-backed insights</a:t>
            </a:r>
          </a:p>
          <a:p>
            <a:pPr algn="l"/>
            <a:endParaRPr lang="en-US" b="1" dirty="0">
              <a:solidFill>
                <a:srgbClr val="0F5963"/>
              </a:solidFill>
              <a:latin typeface="Amazon Ember Display Heavy" panose="020F0803020204020204" pitchFamily="34" charset="0"/>
              <a:ea typeface="Amazon Ember Display Heavy" panose="020F0803020204020204" pitchFamily="34" charset="0"/>
              <a:cs typeface="Amazon Ember Display Heavy" panose="020F0803020204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8DC749-B83B-4825-8E59-E41BAE25CF1E}"/>
              </a:ext>
            </a:extLst>
          </p:cNvPr>
          <p:cNvSpPr/>
          <p:nvPr/>
        </p:nvSpPr>
        <p:spPr>
          <a:xfrm>
            <a:off x="269507" y="308008"/>
            <a:ext cx="11652986" cy="6246796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66927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31567-243C-4CF8-971F-63B35EBE47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783699" y="554424"/>
            <a:ext cx="8989620" cy="662006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C0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Excel – Initial Data Understanding</a:t>
            </a:r>
            <a:endParaRPr lang="en-US" sz="3600" b="1" dirty="0">
              <a:solidFill>
                <a:srgbClr val="C00000"/>
              </a:solidFill>
              <a:latin typeface="Amazon Ember Display Heavy" panose="020F0803020204020204" pitchFamily="34" charset="0"/>
              <a:ea typeface="Amazon Ember Display Heavy" panose="020F0803020204020204" pitchFamily="34" charset="0"/>
              <a:cs typeface="Amazon Ember Display Heavy" panose="020F0803020204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90E2AA-2BC4-4827-B2FC-214BE3D3AA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7040" y="1442812"/>
            <a:ext cx="11226800" cy="5008788"/>
          </a:xfrm>
        </p:spPr>
        <p:txBody>
          <a:bodyPr>
            <a:normAutofit/>
          </a:bodyPr>
          <a:lstStyle/>
          <a:p>
            <a:pPr algn="l"/>
            <a:r>
              <a:rPr lang="en-US" sz="2000" dirty="0">
                <a:solidFill>
                  <a:srgbClr val="0F5963"/>
                </a:solidFill>
                <a:latin typeface="Montserrat" panose="00000500000000000000" pitchFamily="2" charset="0"/>
              </a:rPr>
              <a:t>Before moving to Python, the dataset was first explored in Excel to perform basic validation and early insights.</a:t>
            </a:r>
          </a:p>
          <a:p>
            <a:pPr algn="l"/>
            <a:endParaRPr lang="en-US" sz="20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pPr algn="l"/>
            <a:r>
              <a:rPr lang="en-US" sz="2000" b="1" dirty="0">
                <a:solidFill>
                  <a:srgbClr val="0F5963"/>
                </a:solidFill>
                <a:latin typeface="Montserrat" panose="00000500000000000000" pitchFamily="2" charset="0"/>
              </a:rPr>
              <a:t> 1. Data Import &amp; Structure Check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5963"/>
                </a:solidFill>
                <a:latin typeface="Montserrat" panose="00000500000000000000" pitchFamily="2" charset="0"/>
              </a:rPr>
              <a:t>Loaded the raw dataset into Excel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5963"/>
                </a:solidFill>
                <a:latin typeface="Montserrat" panose="00000500000000000000" pitchFamily="2" charset="0"/>
              </a:rPr>
              <a:t>Verified total rows, columns, and header format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5963"/>
                </a:solidFill>
                <a:latin typeface="Montserrat" panose="00000500000000000000" pitchFamily="2" charset="0"/>
              </a:rPr>
              <a:t>Ensured no misaligned or broken columns</a:t>
            </a:r>
          </a:p>
          <a:p>
            <a:pPr algn="l"/>
            <a:endParaRPr lang="en-US" sz="20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pPr algn="l"/>
            <a:r>
              <a:rPr lang="en-US" sz="2000" b="1" dirty="0">
                <a:solidFill>
                  <a:srgbClr val="0F5963"/>
                </a:solidFill>
                <a:latin typeface="Montserrat" panose="00000500000000000000" pitchFamily="2" charset="0"/>
              </a:rPr>
              <a:t>2. Basic Data Quality Checks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5963"/>
                </a:solidFill>
                <a:latin typeface="Montserrat" panose="00000500000000000000" pitchFamily="2" charset="0"/>
              </a:rPr>
              <a:t>Used </a:t>
            </a:r>
            <a:r>
              <a:rPr lang="en-US" sz="2000" b="1" dirty="0">
                <a:solidFill>
                  <a:srgbClr val="0F5963"/>
                </a:solidFill>
                <a:latin typeface="Montserrat" panose="00000500000000000000" pitchFamily="2" charset="0"/>
              </a:rPr>
              <a:t>filters</a:t>
            </a:r>
            <a:r>
              <a:rPr lang="en-US" sz="2000" dirty="0">
                <a:solidFill>
                  <a:srgbClr val="0F5963"/>
                </a:solidFill>
                <a:latin typeface="Montserrat" panose="00000500000000000000" pitchFamily="2" charset="0"/>
              </a:rPr>
              <a:t> to spot blank cells, inconsistent values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dirty="0">
                <a:solidFill>
                  <a:srgbClr val="0F5963"/>
                </a:solidFill>
                <a:latin typeface="Montserrat" panose="00000500000000000000" pitchFamily="2" charset="0"/>
              </a:rPr>
              <a:t>Checked for </a:t>
            </a:r>
            <a:r>
              <a:rPr lang="en-US" sz="2000" b="1" dirty="0">
                <a:solidFill>
                  <a:srgbClr val="0F5963"/>
                </a:solidFill>
                <a:latin typeface="Montserrat" panose="00000500000000000000" pitchFamily="2" charset="0"/>
              </a:rPr>
              <a:t>duplicate rows</a:t>
            </a:r>
            <a:r>
              <a:rPr lang="en-US" sz="2000" dirty="0">
                <a:solidFill>
                  <a:srgbClr val="0F5963"/>
                </a:solidFill>
                <a:latin typeface="Montserrat" panose="00000500000000000000" pitchFamily="2" charset="0"/>
              </a:rPr>
              <a:t> using </a:t>
            </a:r>
            <a:r>
              <a:rPr lang="en-US" sz="2000" i="1" dirty="0">
                <a:solidFill>
                  <a:srgbClr val="0F5963"/>
                </a:solidFill>
                <a:latin typeface="Montserrat" panose="00000500000000000000" pitchFamily="2" charset="0"/>
              </a:rPr>
              <a:t>Remove Duplicates</a:t>
            </a:r>
          </a:p>
          <a:p>
            <a:pPr algn="l"/>
            <a:endParaRPr lang="en-US" sz="1800" i="1" dirty="0">
              <a:latin typeface="Montserrat" panose="00000500000000000000" pitchFamily="2" charset="0"/>
            </a:endParaRPr>
          </a:p>
          <a:p>
            <a:pPr algn="l"/>
            <a:endParaRPr lang="en-US" sz="1800" dirty="0">
              <a:latin typeface="Montserrat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8DC749-B83B-4825-8E59-E41BAE25CF1E}"/>
              </a:ext>
            </a:extLst>
          </p:cNvPr>
          <p:cNvSpPr/>
          <p:nvPr/>
        </p:nvSpPr>
        <p:spPr>
          <a:xfrm>
            <a:off x="269507" y="308008"/>
            <a:ext cx="11652986" cy="6246796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Download Microsoft Excel Logo in SVG ...">
            <a:extLst>
              <a:ext uri="{FF2B5EF4-FFF2-40B4-BE49-F238E27FC236}">
                <a16:creationId xmlns:a16="http://schemas.microsoft.com/office/drawing/2014/main" id="{7B29A87A-1D9A-496E-8D1B-FFFC796640D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7705" y="397616"/>
            <a:ext cx="1435994" cy="9555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9307452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31567-243C-4CF8-971F-63B35EBE47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8695" y="522584"/>
            <a:ext cx="9144000" cy="662006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C0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Excel – Initial Data Understanding</a:t>
            </a:r>
            <a:endParaRPr lang="en-US" sz="3600" b="1" dirty="0">
              <a:solidFill>
                <a:srgbClr val="C00000"/>
              </a:solidFill>
              <a:latin typeface="Amazon Ember Display Heavy" panose="020F0803020204020204" pitchFamily="34" charset="0"/>
              <a:ea typeface="Amazon Ember Display Heavy" panose="020F0803020204020204" pitchFamily="34" charset="0"/>
              <a:cs typeface="Amazon Ember Display Heavy" panose="020F0803020204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690E2AA-2BC4-4827-B2FC-214BE3D3AA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47040" y="1337912"/>
            <a:ext cx="11226800" cy="5113688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en-US" sz="1900" b="1" dirty="0">
                <a:solidFill>
                  <a:srgbClr val="0F5963"/>
                </a:solidFill>
                <a:latin typeface="Montserrat" panose="00000500000000000000" pitchFamily="2" charset="0"/>
              </a:rPr>
              <a:t>3. Quick Summary Using Excel Tools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rgbClr val="0F5963"/>
                </a:solidFill>
                <a:latin typeface="Montserrat" panose="00000500000000000000" pitchFamily="2" charset="0"/>
              </a:rPr>
              <a:t>Created </a:t>
            </a:r>
            <a:r>
              <a:rPr lang="en-US" sz="1900" b="1" dirty="0">
                <a:solidFill>
                  <a:srgbClr val="0F5963"/>
                </a:solidFill>
                <a:latin typeface="Montserrat" panose="00000500000000000000" pitchFamily="2" charset="0"/>
              </a:rPr>
              <a:t>Pivot Tables</a:t>
            </a:r>
            <a:r>
              <a:rPr lang="en-US" sz="1900" dirty="0">
                <a:solidFill>
                  <a:srgbClr val="0F5963"/>
                </a:solidFill>
                <a:latin typeface="Montserrat" panose="00000500000000000000" pitchFamily="2" charset="0"/>
              </a:rPr>
              <a:t> to review: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rgbClr val="0F5963"/>
                </a:solidFill>
                <a:latin typeface="Montserrat" panose="00000500000000000000" pitchFamily="2" charset="0"/>
              </a:rPr>
              <a:t>Loan Status distribution (Good vs Default)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rgbClr val="0F5963"/>
                </a:solidFill>
                <a:latin typeface="Montserrat" panose="00000500000000000000" pitchFamily="2" charset="0"/>
              </a:rPr>
              <a:t>Loan Purpose counts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rgbClr val="0F5963"/>
                </a:solidFill>
                <a:latin typeface="Montserrat" panose="00000500000000000000" pitchFamily="2" charset="0"/>
              </a:rPr>
              <a:t>Grade-wise loan distribution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rgbClr val="0F5963"/>
                </a:solidFill>
                <a:latin typeface="Montserrat" panose="00000500000000000000" pitchFamily="2" charset="0"/>
              </a:rPr>
              <a:t>Loan amount ranges</a:t>
            </a:r>
          </a:p>
          <a:p>
            <a:pPr lvl="1" algn="l"/>
            <a:endParaRPr lang="en-US" sz="19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pPr algn="l"/>
            <a:r>
              <a:rPr lang="en-US" sz="1900" b="1" dirty="0">
                <a:solidFill>
                  <a:srgbClr val="0F5963"/>
                </a:solidFill>
                <a:latin typeface="Montserrat" panose="00000500000000000000" pitchFamily="2" charset="0"/>
              </a:rPr>
              <a:t>4. Initial Trend &amp; Pattern Identification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rgbClr val="0F5963"/>
                </a:solidFill>
                <a:latin typeface="Montserrat" panose="00000500000000000000" pitchFamily="2" charset="0"/>
              </a:rPr>
              <a:t>Created quick charts: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rgbClr val="0F5963"/>
                </a:solidFill>
                <a:latin typeface="Montserrat" panose="00000500000000000000" pitchFamily="2" charset="0"/>
              </a:rPr>
              <a:t>Loan Amount histogram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rgbClr val="0F5963"/>
                </a:solidFill>
                <a:latin typeface="Montserrat" panose="00000500000000000000" pitchFamily="2" charset="0"/>
              </a:rPr>
              <a:t>Interest Rate distribution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rgbClr val="0F5963"/>
                </a:solidFill>
                <a:latin typeface="Montserrat" panose="00000500000000000000" pitchFamily="2" charset="0"/>
              </a:rPr>
              <a:t>Loan Purpose bar chart</a:t>
            </a:r>
          </a:p>
          <a:p>
            <a:pPr lvl="1" algn="l"/>
            <a:endParaRPr lang="en-US" sz="19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pPr algn="l"/>
            <a:r>
              <a:rPr lang="en-US" sz="1900" b="1" dirty="0">
                <a:solidFill>
                  <a:srgbClr val="0F5963"/>
                </a:solidFill>
                <a:latin typeface="Montserrat" panose="00000500000000000000" pitchFamily="2" charset="0"/>
              </a:rPr>
              <a:t>5. Export for Python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rgbClr val="0F5963"/>
                </a:solidFill>
                <a:latin typeface="Montserrat" panose="00000500000000000000" pitchFamily="2" charset="0"/>
              </a:rPr>
              <a:t>Cleaned file saved as </a:t>
            </a:r>
            <a:r>
              <a:rPr lang="en-US" sz="1900" b="1" dirty="0">
                <a:solidFill>
                  <a:srgbClr val="0F5963"/>
                </a:solidFill>
                <a:latin typeface="Montserrat" panose="00000500000000000000" pitchFamily="2" charset="0"/>
              </a:rPr>
              <a:t>.xlsx / .csv</a:t>
            </a:r>
            <a:endParaRPr lang="en-US" sz="19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rgbClr val="0F5963"/>
                </a:solidFill>
                <a:latin typeface="Montserrat" panose="00000500000000000000" pitchFamily="2" charset="0"/>
              </a:rPr>
              <a:t>Handed over to Python for advanced cleaning &amp; EDA</a:t>
            </a:r>
          </a:p>
          <a:p>
            <a:pPr algn="l"/>
            <a:endParaRPr lang="en-US" sz="1800" i="1" dirty="0">
              <a:latin typeface="Montserrat" panose="00000500000000000000" pitchFamily="2" charset="0"/>
            </a:endParaRPr>
          </a:p>
          <a:p>
            <a:pPr algn="l"/>
            <a:endParaRPr lang="en-US" sz="1800" dirty="0">
              <a:latin typeface="Montserrat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8DC749-B83B-4825-8E59-E41BAE25CF1E}"/>
              </a:ext>
            </a:extLst>
          </p:cNvPr>
          <p:cNvSpPr/>
          <p:nvPr/>
        </p:nvSpPr>
        <p:spPr>
          <a:xfrm>
            <a:off x="269507" y="308008"/>
            <a:ext cx="11652986" cy="6246796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Download Microsoft Excel Logo in SVG ...">
            <a:extLst>
              <a:ext uri="{FF2B5EF4-FFF2-40B4-BE49-F238E27FC236}">
                <a16:creationId xmlns:a16="http://schemas.microsoft.com/office/drawing/2014/main" id="{4B7023C5-47C8-4BB3-ACE8-B6FEF51079F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18017" y="382324"/>
            <a:ext cx="1435994" cy="95558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741208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90E2AA-2BC4-4827-B2FC-214BE3D3AA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9440" y="1429922"/>
            <a:ext cx="11003280" cy="4940683"/>
          </a:xfrm>
        </p:spPr>
        <p:txBody>
          <a:bodyPr>
            <a:normAutofit lnSpcReduction="10000"/>
          </a:bodyPr>
          <a:lstStyle/>
          <a:p>
            <a:pPr algn="l"/>
            <a:r>
              <a:rPr lang="en-US" sz="2000" b="1" dirty="0">
                <a:solidFill>
                  <a:srgbClr val="0F5963"/>
                </a:solidFill>
                <a:latin typeface="Montserrat" panose="00000500000000000000" pitchFamily="2" charset="0"/>
              </a:rPr>
              <a:t>Dataset Overview</a:t>
            </a:r>
          </a:p>
          <a:p>
            <a:pPr algn="l"/>
            <a:r>
              <a:rPr lang="en-US" sz="2000" dirty="0">
                <a:solidFill>
                  <a:srgbClr val="0F5963"/>
                </a:solidFill>
                <a:latin typeface="Montserrat" panose="00000500000000000000" pitchFamily="2" charset="0"/>
              </a:rPr>
              <a:t>The dataset contains information about customers, their loan details, and their repayment status. It helps us understand the factors that influence whether a loan is repaid or defaulted.</a:t>
            </a:r>
          </a:p>
          <a:p>
            <a:pPr algn="l"/>
            <a:endParaRPr lang="en-US" sz="2000" b="1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pPr algn="l"/>
            <a:r>
              <a:rPr lang="en-US" sz="2000" b="1" dirty="0">
                <a:solidFill>
                  <a:srgbClr val="0F5963"/>
                </a:solidFill>
                <a:latin typeface="Montserrat" panose="00000500000000000000" pitchFamily="2" charset="0"/>
              </a:rPr>
              <a:t>Dataset Size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0F5963"/>
                </a:solidFill>
                <a:latin typeface="Montserrat" panose="00000500000000000000" pitchFamily="2" charset="0"/>
              </a:rPr>
              <a:t>Total Rows: </a:t>
            </a:r>
            <a:r>
              <a:rPr lang="en-US" sz="2000" b="0" i="0" dirty="0">
                <a:solidFill>
                  <a:srgbClr val="0F5963"/>
                </a:solidFill>
                <a:effectLst/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38576</a:t>
            </a:r>
            <a:r>
              <a:rPr lang="en-US" sz="2000" dirty="0">
                <a:solidFill>
                  <a:srgbClr val="0F5963"/>
                </a:solidFill>
                <a:latin typeface="Montserrat" panose="00000500000000000000" pitchFamily="2" charset="0"/>
              </a:rPr>
              <a:t> 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0F5963"/>
                </a:solidFill>
                <a:latin typeface="Montserrat" panose="00000500000000000000" pitchFamily="2" charset="0"/>
              </a:rPr>
              <a:t>Total Columns:</a:t>
            </a:r>
            <a:r>
              <a:rPr lang="en-US" sz="2000" dirty="0">
                <a:solidFill>
                  <a:srgbClr val="0F5963"/>
                </a:solidFill>
                <a:latin typeface="Montserrat" panose="00000500000000000000" pitchFamily="2" charset="0"/>
              </a:rPr>
              <a:t>  </a:t>
            </a:r>
            <a:r>
              <a:rPr lang="en-US" sz="2000" b="0" i="0" dirty="0">
                <a:solidFill>
                  <a:srgbClr val="0F5963"/>
                </a:solidFill>
                <a:effectLst/>
                <a:latin typeface="Cascadia Code SemiBold" panose="020B0609020000020004" pitchFamily="49" charset="0"/>
                <a:ea typeface="Cascadia Code SemiBold" panose="020B0609020000020004" pitchFamily="49" charset="0"/>
                <a:cs typeface="Cascadia Code SemiBold" panose="020B0609020000020004" pitchFamily="49" charset="0"/>
              </a:rPr>
              <a:t>24</a:t>
            </a:r>
          </a:p>
          <a:p>
            <a:pPr algn="l"/>
            <a:endParaRPr lang="en-US" sz="20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pPr algn="l"/>
            <a:r>
              <a:rPr lang="en-US" sz="2000" b="1" dirty="0">
                <a:solidFill>
                  <a:srgbClr val="0F5963"/>
                </a:solidFill>
                <a:latin typeface="Montserrat" panose="00000500000000000000" pitchFamily="2" charset="0"/>
              </a:rPr>
              <a:t>Key Columns Include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0F5963"/>
                </a:solidFill>
                <a:latin typeface="Montserrat" panose="00000500000000000000" pitchFamily="2" charset="0"/>
              </a:rPr>
              <a:t>Customer Information:</a:t>
            </a:r>
            <a:r>
              <a:rPr lang="en-US" sz="2000" dirty="0">
                <a:solidFill>
                  <a:srgbClr val="0F5963"/>
                </a:solidFill>
                <a:latin typeface="Montserrat" panose="00000500000000000000" pitchFamily="2" charset="0"/>
              </a:rPr>
              <a:t> age, income, employment type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0F5963"/>
                </a:solidFill>
                <a:latin typeface="Montserrat" panose="00000500000000000000" pitchFamily="2" charset="0"/>
              </a:rPr>
              <a:t>Loan Details:</a:t>
            </a:r>
            <a:r>
              <a:rPr lang="en-US" sz="2000" dirty="0">
                <a:solidFill>
                  <a:srgbClr val="0F5963"/>
                </a:solidFill>
                <a:latin typeface="Montserrat" panose="00000500000000000000" pitchFamily="2" charset="0"/>
              </a:rPr>
              <a:t> loan amount, interest rate, loan term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0F5963"/>
                </a:solidFill>
                <a:latin typeface="Montserrat" panose="00000500000000000000" pitchFamily="2" charset="0"/>
              </a:rPr>
              <a:t>Financial Indicators:</a:t>
            </a:r>
            <a:r>
              <a:rPr lang="en-US" sz="2000" dirty="0">
                <a:solidFill>
                  <a:srgbClr val="0F5963"/>
                </a:solidFill>
                <a:latin typeface="Montserrat" panose="00000500000000000000" pitchFamily="2" charset="0"/>
              </a:rPr>
              <a:t> credit score, debt-to-income ratio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0F5963"/>
                </a:solidFill>
                <a:latin typeface="Montserrat" panose="00000500000000000000" pitchFamily="2" charset="0"/>
              </a:rPr>
              <a:t>Loan Status:</a:t>
            </a:r>
            <a:r>
              <a:rPr lang="en-US" sz="2000" dirty="0">
                <a:solidFill>
                  <a:srgbClr val="0F5963"/>
                </a:solidFill>
                <a:latin typeface="Montserrat" panose="00000500000000000000" pitchFamily="2" charset="0"/>
              </a:rPr>
              <a:t> Good loan / default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8DC749-B83B-4825-8E59-E41BAE25CF1E}"/>
              </a:ext>
            </a:extLst>
          </p:cNvPr>
          <p:cNvSpPr/>
          <p:nvPr/>
        </p:nvSpPr>
        <p:spPr>
          <a:xfrm>
            <a:off x="269507" y="308008"/>
            <a:ext cx="11652986" cy="6246796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2D4CD7C-B135-47B3-881E-75BC165D53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3999" y="434625"/>
            <a:ext cx="9144001" cy="77565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CC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Data Summary</a:t>
            </a:r>
            <a:endParaRPr lang="en-US" sz="3600" b="1" dirty="0">
              <a:solidFill>
                <a:srgbClr val="CC0000"/>
              </a:solidFill>
              <a:latin typeface="Amazon Ember Display Heavy" panose="020F0803020204020204" pitchFamily="34" charset="0"/>
              <a:ea typeface="Amazon Ember Display Heavy" panose="020F0803020204020204" pitchFamily="34" charset="0"/>
              <a:cs typeface="Amazon Ember Display Heavy" panose="020F0803020204020204" pitchFamily="34" charset="0"/>
            </a:endParaRPr>
          </a:p>
        </p:txBody>
      </p:sp>
      <p:pic>
        <p:nvPicPr>
          <p:cNvPr id="6" name="Picture 10">
            <a:extLst>
              <a:ext uri="{FF2B5EF4-FFF2-40B4-BE49-F238E27FC236}">
                <a16:creationId xmlns:a16="http://schemas.microsoft.com/office/drawing/2014/main" id="{5EF623DB-D93E-4A90-B8D6-1B226F28256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440" y="434625"/>
            <a:ext cx="868680" cy="868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69924006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8DC749-B83B-4825-8E59-E41BAE25CF1E}"/>
              </a:ext>
            </a:extLst>
          </p:cNvPr>
          <p:cNvSpPr/>
          <p:nvPr/>
        </p:nvSpPr>
        <p:spPr>
          <a:xfrm>
            <a:off x="269507" y="308008"/>
            <a:ext cx="11652986" cy="6246796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2D4CD7C-B135-47B3-881E-75BC165D53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59668" y="423774"/>
            <a:ext cx="10880725" cy="77565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CC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Data Cleaning &amp; Preparation</a:t>
            </a:r>
            <a:endParaRPr lang="en-US" sz="3600" b="1" dirty="0">
              <a:solidFill>
                <a:srgbClr val="CC0000"/>
              </a:solidFill>
              <a:latin typeface="Amazon Ember Display Heavy" panose="020F0803020204020204" pitchFamily="34" charset="0"/>
              <a:ea typeface="Amazon Ember Display Heavy" panose="020F0803020204020204" pitchFamily="34" charset="0"/>
              <a:cs typeface="Amazon Ember Display Heavy" panose="020F0803020204020204" pitchFamily="34" charset="0"/>
            </a:endParaRPr>
          </a:p>
        </p:txBody>
      </p:sp>
      <p:sp>
        <p:nvSpPr>
          <p:cNvPr id="2" name="Subtitle 1">
            <a:extLst>
              <a:ext uri="{FF2B5EF4-FFF2-40B4-BE49-F238E27FC236}">
                <a16:creationId xmlns:a16="http://schemas.microsoft.com/office/drawing/2014/main" id="{B72AE2D8-20CB-4558-9B7D-592058269A9D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490988" y="1365355"/>
            <a:ext cx="11210023" cy="477053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1. Missing Values Handling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Checked missing values in all columns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The column </a:t>
            </a:r>
            <a:r>
              <a:rPr kumimoji="0" lang="en-US" altLang="en-US" sz="1600" b="1" i="0" u="none" strike="noStrike" cap="none" normalizeH="0" baseline="0" dirty="0" err="1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emp_title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 had missing values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Filled missing </a:t>
            </a: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emp_title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 with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"Unknown“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rgbClr val="0F5963"/>
              </a:solidFill>
              <a:effectLst/>
              <a:latin typeface="Montserrat" panose="00000500000000000000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2. Duplicate Records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Verified for duplicated entries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Total duplicate rows: 0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rgbClr val="0F5963"/>
              </a:solidFill>
              <a:effectLst/>
              <a:latin typeface="Montserrat" panose="00000500000000000000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3. Outlier Detection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Identified outliers using boxplots 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Outliers were </a:t>
            </a: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not removed</a:t>
            </a: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, kept for analysis to avoid data loss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rgbClr val="0F5963"/>
              </a:solidFill>
              <a:effectLst/>
              <a:latin typeface="Montserrat" panose="00000500000000000000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600" b="1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4. Fixing Data Types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Converted date-related columns into proper datetime format:</a:t>
            </a: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issue_date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rgbClr val="0F5963"/>
              </a:solidFill>
              <a:effectLst/>
              <a:latin typeface="Montserrat" panose="00000500000000000000" pitchFamily="2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last_credit_pull_date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rgbClr val="0F5963"/>
              </a:solidFill>
              <a:effectLst/>
              <a:latin typeface="Montserrat" panose="00000500000000000000" pitchFamily="2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last_payment_date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rgbClr val="0F5963"/>
              </a:solidFill>
              <a:effectLst/>
              <a:latin typeface="Montserrat" panose="00000500000000000000" pitchFamily="2" charset="0"/>
            </a:endParaRPr>
          </a:p>
          <a:p>
            <a:pPr marL="457200" marR="0" lvl="1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600" b="0" i="0" u="none" strike="noStrike" cap="none" normalizeH="0" baseline="0" dirty="0" err="1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next_payment_date</a:t>
            </a:r>
            <a:endParaRPr kumimoji="0" lang="en-US" altLang="en-US" sz="1600" b="0" i="0" u="none" strike="noStrike" cap="none" normalizeH="0" baseline="0" dirty="0">
              <a:ln>
                <a:noFill/>
              </a:ln>
              <a:solidFill>
                <a:srgbClr val="0F5963"/>
              </a:solidFill>
              <a:effectLst/>
              <a:latin typeface="Montserrat" panose="00000500000000000000" pitchFamily="2" charset="0"/>
            </a:endParaRPr>
          </a:p>
        </p:txBody>
      </p:sp>
      <p:pic>
        <p:nvPicPr>
          <p:cNvPr id="6" name="Picture 10">
            <a:extLst>
              <a:ext uri="{FF2B5EF4-FFF2-40B4-BE49-F238E27FC236}">
                <a16:creationId xmlns:a16="http://schemas.microsoft.com/office/drawing/2014/main" id="{49E9302B-452E-4188-90DA-D6AC33B020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0988" y="392930"/>
            <a:ext cx="868680" cy="868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5452843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131567-243C-4CF8-971F-63B35EBE475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9902" y="382664"/>
            <a:ext cx="10180320" cy="761999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CC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Dependent Variable</a:t>
            </a:r>
            <a:endParaRPr lang="en-US" sz="3600" b="1" dirty="0">
              <a:solidFill>
                <a:srgbClr val="CC0000"/>
              </a:solidFill>
              <a:latin typeface="Amazon Ember Display Heavy" panose="020F0803020204020204" pitchFamily="34" charset="0"/>
              <a:ea typeface="Amazon Ember Display Heavy" panose="020F0803020204020204" pitchFamily="34" charset="0"/>
              <a:cs typeface="Amazon Ember Display Heavy" panose="020F0803020204020204" pitchFamily="34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8DC749-B83B-4825-8E59-E41BAE25CF1E}"/>
              </a:ext>
            </a:extLst>
          </p:cNvPr>
          <p:cNvSpPr/>
          <p:nvPr/>
        </p:nvSpPr>
        <p:spPr>
          <a:xfrm>
            <a:off x="269507" y="308008"/>
            <a:ext cx="11652986" cy="6246796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1">
            <a:extLst>
              <a:ext uri="{FF2B5EF4-FFF2-40B4-BE49-F238E27FC236}">
                <a16:creationId xmlns:a16="http://schemas.microsoft.com/office/drawing/2014/main" id="{9ED99EFB-AF7A-4562-B2F0-C4B1C5CBF2BC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449351" y="1420319"/>
            <a:ext cx="11115040" cy="184665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📌 </a:t>
            </a:r>
            <a:r>
              <a:rPr kumimoji="0" lang="en-US" altLang="en-US" sz="1800" b="1" i="0" u="none" strike="noStrike" cap="none" normalizeH="0" baseline="0" dirty="0" err="1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loan_status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 (Good Loan vs Default Loan)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1800" b="1" i="0" u="none" strike="noStrike" cap="none" normalizeH="0" baseline="0" dirty="0">
              <a:ln>
                <a:noFill/>
              </a:ln>
              <a:solidFill>
                <a:srgbClr val="0F5963"/>
              </a:solidFill>
              <a:effectLst/>
              <a:latin typeface="Montserrat" panose="00000500000000000000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This column tells you whether a borrower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repaid the loan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 or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defaulted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lang="en-US" altLang="en-US" sz="20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F5963"/>
              </a:solidFill>
              <a:effectLst/>
              <a:latin typeface="Montserrat" panose="00000500000000000000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F5963"/>
              </a:solidFill>
              <a:effectLst/>
              <a:latin typeface="Montserrat" panose="00000500000000000000" pitchFamily="2" charset="0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11F96F3-81EE-4DB0-B22C-5732680B6CA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59840" y="2600066"/>
            <a:ext cx="9083040" cy="3757700"/>
          </a:xfrm>
          <a:prstGeom prst="rect">
            <a:avLst/>
          </a:prstGeom>
        </p:spPr>
      </p:pic>
      <p:pic>
        <p:nvPicPr>
          <p:cNvPr id="6" name="Picture 10">
            <a:extLst>
              <a:ext uri="{FF2B5EF4-FFF2-40B4-BE49-F238E27FC236}">
                <a16:creationId xmlns:a16="http://schemas.microsoft.com/office/drawing/2014/main" id="{24D2E03B-12F5-4852-A6BD-24D3B11A012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31222" y="387275"/>
            <a:ext cx="868680" cy="868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1540879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90E2AA-2BC4-4827-B2FC-214BE3D3AA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9440" y="1378837"/>
            <a:ext cx="11003280" cy="4940683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8DC749-B83B-4825-8E59-E41BAE25CF1E}"/>
              </a:ext>
            </a:extLst>
          </p:cNvPr>
          <p:cNvSpPr/>
          <p:nvPr/>
        </p:nvSpPr>
        <p:spPr>
          <a:xfrm>
            <a:off x="269507" y="308008"/>
            <a:ext cx="11652986" cy="6246796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2D4CD7C-B135-47B3-881E-75BC165D53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98599" y="441214"/>
            <a:ext cx="9144001" cy="775653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CC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Exploratory Data Analysis (EDA)</a:t>
            </a:r>
            <a:endParaRPr lang="en-US" sz="3600" b="1" dirty="0">
              <a:solidFill>
                <a:srgbClr val="CC0000"/>
              </a:solidFill>
              <a:latin typeface="Amazon Ember Display Heavy" panose="020F0803020204020204" pitchFamily="34" charset="0"/>
              <a:ea typeface="Amazon Ember Display Heavy" panose="020F0803020204020204" pitchFamily="34" charset="0"/>
              <a:cs typeface="Amazon Ember Display Heavy" panose="020F0803020204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0CED44D0-0F4C-42B9-A73C-112FD800829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880" y="1381988"/>
            <a:ext cx="11267440" cy="40069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FA182FD-337D-4C53-B1A6-225D759AC064}"/>
              </a:ext>
            </a:extLst>
          </p:cNvPr>
          <p:cNvSpPr txBox="1"/>
          <p:nvPr/>
        </p:nvSpPr>
        <p:spPr>
          <a:xfrm>
            <a:off x="599440" y="5331197"/>
            <a:ext cx="11104880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333333"/>
                </a:solidFill>
                <a:latin typeface="Montserrat" panose="00000500000000000000" pitchFamily="2" charset="0"/>
              </a:rPr>
              <a:t>Loan Amount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333333"/>
                </a:solidFill>
                <a:latin typeface="Montserrat" panose="00000500000000000000" pitchFamily="2" charset="0"/>
              </a:rPr>
              <a:t>Most loan amounts lie between </a:t>
            </a:r>
            <a:r>
              <a:rPr lang="en-US" sz="1600" b="1" dirty="0">
                <a:solidFill>
                  <a:srgbClr val="333333"/>
                </a:solidFill>
                <a:latin typeface="Montserrat" panose="00000500000000000000" pitchFamily="2" charset="0"/>
              </a:rPr>
              <a:t>$5,000 and $15,000</a:t>
            </a:r>
            <a:r>
              <a:rPr lang="en-US" sz="1600" dirty="0">
                <a:solidFill>
                  <a:srgbClr val="333333"/>
                </a:solidFill>
                <a:latin typeface="Montserrat" panose="00000500000000000000" pitchFamily="2" charset="0"/>
              </a:rPr>
              <a:t>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333333"/>
                </a:solidFill>
                <a:latin typeface="Montserrat" panose="00000500000000000000" pitchFamily="2" charset="0"/>
              </a:rPr>
              <a:t>The distribution is </a:t>
            </a:r>
            <a:r>
              <a:rPr lang="en-US" sz="1600" b="1" dirty="0">
                <a:solidFill>
                  <a:srgbClr val="333333"/>
                </a:solidFill>
                <a:latin typeface="Montserrat" panose="00000500000000000000" pitchFamily="2" charset="0"/>
              </a:rPr>
              <a:t>right-skewed</a:t>
            </a:r>
            <a:r>
              <a:rPr lang="en-US" sz="1600" dirty="0">
                <a:solidFill>
                  <a:srgbClr val="333333"/>
                </a:solidFill>
                <a:latin typeface="Montserrat" panose="00000500000000000000" pitchFamily="2" charset="0"/>
              </a:rPr>
              <a:t>, meaning some customers take very high loan amounts.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333333"/>
                </a:solidFill>
                <a:latin typeface="Montserrat" panose="00000500000000000000" pitchFamily="2" charset="0"/>
              </a:rPr>
              <a:t>Boxplot shows </a:t>
            </a:r>
            <a:r>
              <a:rPr lang="en-US" sz="1600" b="1" dirty="0">
                <a:solidFill>
                  <a:srgbClr val="333333"/>
                </a:solidFill>
                <a:latin typeface="Montserrat" panose="00000500000000000000" pitchFamily="2" charset="0"/>
              </a:rPr>
              <a:t>clear outliers</a:t>
            </a:r>
            <a:r>
              <a:rPr lang="en-US" sz="1600" dirty="0">
                <a:solidFill>
                  <a:srgbClr val="333333"/>
                </a:solidFill>
                <a:latin typeface="Montserrat" panose="00000500000000000000" pitchFamily="2" charset="0"/>
              </a:rPr>
              <a:t>, but we did </a:t>
            </a:r>
            <a:r>
              <a:rPr lang="en-US" sz="1600" b="1" dirty="0">
                <a:solidFill>
                  <a:srgbClr val="333333"/>
                </a:solidFill>
                <a:latin typeface="Montserrat" panose="00000500000000000000" pitchFamily="2" charset="0"/>
              </a:rPr>
              <a:t>not remove them</a:t>
            </a:r>
            <a:r>
              <a:rPr lang="en-US" sz="1600" dirty="0">
                <a:solidFill>
                  <a:srgbClr val="333333"/>
                </a:solidFill>
                <a:latin typeface="Montserrat" panose="00000500000000000000" pitchFamily="2" charset="0"/>
              </a:rPr>
              <a:t> because they represent real high-value loans</a:t>
            </a:r>
          </a:p>
        </p:txBody>
      </p:sp>
      <p:pic>
        <p:nvPicPr>
          <p:cNvPr id="7" name="Picture 10">
            <a:extLst>
              <a:ext uri="{FF2B5EF4-FFF2-40B4-BE49-F238E27FC236}">
                <a16:creationId xmlns:a16="http://schemas.microsoft.com/office/drawing/2014/main" id="{6FCAD4F5-5ED0-4E8A-B4EE-8BCE313AA8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5507" y="418717"/>
            <a:ext cx="871225" cy="8712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642492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90E2AA-2BC4-4827-B2FC-214BE3D3AA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9440" y="1378837"/>
            <a:ext cx="11003280" cy="4940683"/>
          </a:xfrm>
        </p:spPr>
        <p:txBody>
          <a:bodyPr>
            <a:normAutofit/>
          </a:bodyPr>
          <a:lstStyle/>
          <a:p>
            <a:pPr algn="l"/>
            <a:endParaRPr lang="en-US" sz="20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8DC749-B83B-4825-8E59-E41BAE25CF1E}"/>
              </a:ext>
            </a:extLst>
          </p:cNvPr>
          <p:cNvSpPr/>
          <p:nvPr/>
        </p:nvSpPr>
        <p:spPr>
          <a:xfrm>
            <a:off x="269507" y="308008"/>
            <a:ext cx="11652986" cy="6246796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2D4CD7C-B135-47B3-881E-75BC165D53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96275" y="411668"/>
            <a:ext cx="9144001" cy="775653"/>
          </a:xfrm>
        </p:spPr>
        <p:txBody>
          <a:bodyPr>
            <a:normAutofit fontScale="90000"/>
          </a:bodyPr>
          <a:lstStyle/>
          <a:p>
            <a:pPr algn="l"/>
            <a:r>
              <a:rPr lang="en-US" sz="4000" dirty="0">
                <a:solidFill>
                  <a:srgbClr val="CC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Exploratory Data Analysis </a:t>
            </a:r>
            <a:r>
              <a:rPr lang="en-US" sz="3600" dirty="0">
                <a:solidFill>
                  <a:srgbClr val="CC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(Continued)</a:t>
            </a:r>
            <a:endParaRPr lang="en-US" sz="3600" b="1" dirty="0">
              <a:solidFill>
                <a:srgbClr val="CC0000"/>
              </a:solidFill>
              <a:latin typeface="Amazon Ember Display Heavy" panose="020F0803020204020204" pitchFamily="34" charset="0"/>
              <a:ea typeface="Amazon Ember Display Heavy" panose="020F0803020204020204" pitchFamily="34" charset="0"/>
              <a:cs typeface="Amazon Ember Display Heavy" panose="020F0803020204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4FF00C8E-50F6-4029-96A5-4AA97FFF217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1640" y="1228159"/>
            <a:ext cx="11460480" cy="4029244"/>
          </a:xfrm>
          <a:prstGeom prst="rect">
            <a:avLst/>
          </a:prstGeom>
        </p:spPr>
      </p:pic>
      <p:sp>
        <p:nvSpPr>
          <p:cNvPr id="15" name="Rectangle 6">
            <a:extLst>
              <a:ext uri="{FF2B5EF4-FFF2-40B4-BE49-F238E27FC236}">
                <a16:creationId xmlns:a16="http://schemas.microsoft.com/office/drawing/2014/main" id="{2D22DEEB-69A1-41A1-A4B3-7C5ED8BF2D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2800" y="5629841"/>
            <a:ext cx="2407920" cy="5847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BDE649C-30C0-4648-9471-713A44E2C55C}"/>
              </a:ext>
            </a:extLst>
          </p:cNvPr>
          <p:cNvSpPr txBox="1"/>
          <p:nvPr/>
        </p:nvSpPr>
        <p:spPr>
          <a:xfrm>
            <a:off x="559067" y="5257402"/>
            <a:ext cx="11211293" cy="147732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Interest rates are mostly between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8% and 14%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The distribution is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slightly right-skewed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, with a few customers getting higher interest rates.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Outliers are present at the upper end (18%–24%).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These outliers are expected due to risk-based pricing.</a:t>
            </a:r>
          </a:p>
          <a:p>
            <a:endParaRPr lang="en-US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9FF4A2-CECC-4559-B52D-D2D74E7753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9067" y="359479"/>
            <a:ext cx="868680" cy="86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447224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90E2AA-2BC4-4827-B2FC-214BE3D3AA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599440" y="5008880"/>
            <a:ext cx="11074400" cy="1393524"/>
          </a:xfrm>
        </p:spPr>
        <p:txBody>
          <a:bodyPr>
            <a:noAutofit/>
          </a:bodyPr>
          <a:lstStyle/>
          <a:p>
            <a:pPr algn="l"/>
            <a:endParaRPr lang="en-US" sz="18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Most DTI values lie between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8%–18%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Distribution is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slightly right-skewed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Median DTI ≈ 13%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Few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high DTI cases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, but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no major outliers</a:t>
            </a:r>
            <a:endParaRPr lang="en-US" sz="1800" dirty="0">
              <a:solidFill>
                <a:srgbClr val="333333"/>
              </a:solidFill>
              <a:latin typeface="Montserrat" panose="00000500000000000000" pitchFamily="2" charset="0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8DC749-B83B-4825-8E59-E41BAE25CF1E}"/>
              </a:ext>
            </a:extLst>
          </p:cNvPr>
          <p:cNvSpPr/>
          <p:nvPr/>
        </p:nvSpPr>
        <p:spPr>
          <a:xfrm>
            <a:off x="269507" y="308008"/>
            <a:ext cx="11652986" cy="6246796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2D4CD7C-B135-47B3-881E-75BC165D53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36039" y="410946"/>
            <a:ext cx="9144001" cy="775653"/>
          </a:xfrm>
        </p:spPr>
        <p:txBody>
          <a:bodyPr>
            <a:normAutofit fontScale="90000"/>
          </a:bodyPr>
          <a:lstStyle/>
          <a:p>
            <a:pPr algn="l"/>
            <a:r>
              <a:rPr lang="en-US" sz="4000" dirty="0">
                <a:solidFill>
                  <a:srgbClr val="CC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Exploratory Data Analysis </a:t>
            </a:r>
            <a:r>
              <a:rPr lang="en-US" sz="3600" dirty="0">
                <a:solidFill>
                  <a:srgbClr val="CC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(Continued)</a:t>
            </a:r>
            <a:endParaRPr lang="en-US" sz="3600" b="1" dirty="0">
              <a:solidFill>
                <a:srgbClr val="CC0000"/>
              </a:solidFill>
              <a:latin typeface="Amazon Ember Display Heavy" panose="020F0803020204020204" pitchFamily="34" charset="0"/>
              <a:ea typeface="Amazon Ember Display Heavy" panose="020F0803020204020204" pitchFamily="34" charset="0"/>
              <a:cs typeface="Amazon Ember Display Heavy" panose="020F0803020204020204" pitchFamily="34" charset="0"/>
            </a:endParaRPr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2D22DEEB-69A1-41A1-A4B3-7C5ED8BF2D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2800" y="5629841"/>
            <a:ext cx="2407920" cy="5847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E1729610-5922-4733-A476-EFAC0B33DE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360" y="1289538"/>
            <a:ext cx="11206480" cy="3979735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B517A9BA-2138-40C4-BC4C-FD03C173E0D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7359" y="410946"/>
            <a:ext cx="868680" cy="868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452471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8DC749-B83B-4825-8E59-E41BAE25CF1E}"/>
              </a:ext>
            </a:extLst>
          </p:cNvPr>
          <p:cNvSpPr/>
          <p:nvPr/>
        </p:nvSpPr>
        <p:spPr>
          <a:xfrm>
            <a:off x="269507" y="308008"/>
            <a:ext cx="11652986" cy="6246796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2D4CD7C-B135-47B3-881E-75BC165D53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35462" y="367071"/>
            <a:ext cx="9144001" cy="775653"/>
          </a:xfrm>
        </p:spPr>
        <p:txBody>
          <a:bodyPr>
            <a:normAutofit fontScale="90000"/>
          </a:bodyPr>
          <a:lstStyle/>
          <a:p>
            <a:pPr algn="l"/>
            <a:r>
              <a:rPr lang="en-US" sz="4000" dirty="0">
                <a:solidFill>
                  <a:srgbClr val="CC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Exploratory Data Analysis </a:t>
            </a:r>
            <a:r>
              <a:rPr lang="en-US" sz="3600" dirty="0">
                <a:solidFill>
                  <a:srgbClr val="CC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(Continued)</a:t>
            </a:r>
            <a:endParaRPr lang="en-US" sz="3600" b="1" dirty="0">
              <a:solidFill>
                <a:srgbClr val="CC0000"/>
              </a:solidFill>
              <a:latin typeface="Amazon Ember Display Heavy" panose="020F0803020204020204" pitchFamily="34" charset="0"/>
              <a:ea typeface="Amazon Ember Display Heavy" panose="020F0803020204020204" pitchFamily="34" charset="0"/>
              <a:cs typeface="Amazon Ember Display Heavy" panose="020F0803020204020204" pitchFamily="34" charset="0"/>
            </a:endParaRPr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2D22DEEB-69A1-41A1-A4B3-7C5ED8BF2D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2800" y="5629841"/>
            <a:ext cx="2407920" cy="5847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Subtitle 1">
            <a:extLst>
              <a:ext uri="{FF2B5EF4-FFF2-40B4-BE49-F238E27FC236}">
                <a16:creationId xmlns:a16="http://schemas.microsoft.com/office/drawing/2014/main" id="{B21B85F4-34EA-4D15-840D-E585D0DB646F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599440" y="5202075"/>
            <a:ext cx="10400604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Higher grades (A, B, C) have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very low Charged-Off rates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Lower grades (D, E, F, G) show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increasing default (Charged-Off) percentages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Most loans across all grades are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Fully Paid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, but risk clearly increases as grade decreases.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This confirms that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loan grade is strongly linked to credit risk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.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6971C33-DA36-4E7A-A08B-B49E5BE0384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9440" y="1245771"/>
            <a:ext cx="10647681" cy="3956304"/>
          </a:xfrm>
          <a:prstGeom prst="rect">
            <a:avLst/>
          </a:prstGeom>
        </p:spPr>
      </p:pic>
      <p:pic>
        <p:nvPicPr>
          <p:cNvPr id="8" name="Picture 10">
            <a:extLst>
              <a:ext uri="{FF2B5EF4-FFF2-40B4-BE49-F238E27FC236}">
                <a16:creationId xmlns:a16="http://schemas.microsoft.com/office/drawing/2014/main" id="{A004BE69-9612-4BCE-820E-D2D57B1E8C8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6782" y="367071"/>
            <a:ext cx="868680" cy="868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3568046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8DC749-B83B-4825-8E59-E41BAE25CF1E}"/>
              </a:ext>
            </a:extLst>
          </p:cNvPr>
          <p:cNvSpPr/>
          <p:nvPr/>
        </p:nvSpPr>
        <p:spPr>
          <a:xfrm>
            <a:off x="269507" y="308008"/>
            <a:ext cx="11652986" cy="6246796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2D4CD7C-B135-47B3-881E-75BC165D53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3657" y="443260"/>
            <a:ext cx="9144001" cy="775653"/>
          </a:xfrm>
        </p:spPr>
        <p:txBody>
          <a:bodyPr>
            <a:normAutofit fontScale="90000"/>
          </a:bodyPr>
          <a:lstStyle/>
          <a:p>
            <a:pPr algn="l"/>
            <a:r>
              <a:rPr lang="en-US" sz="4000" dirty="0">
                <a:solidFill>
                  <a:srgbClr val="CC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Exploratory Data Analysis </a:t>
            </a:r>
            <a:r>
              <a:rPr lang="en-US" sz="3600" dirty="0">
                <a:solidFill>
                  <a:srgbClr val="CC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(Continued)</a:t>
            </a:r>
            <a:endParaRPr lang="en-US" sz="3600" b="1" dirty="0">
              <a:solidFill>
                <a:srgbClr val="CC0000"/>
              </a:solidFill>
              <a:latin typeface="Amazon Ember Display Heavy" panose="020F0803020204020204" pitchFamily="34" charset="0"/>
              <a:ea typeface="Amazon Ember Display Heavy" panose="020F0803020204020204" pitchFamily="34" charset="0"/>
              <a:cs typeface="Amazon Ember Display Heavy" panose="020F0803020204020204" pitchFamily="34" charset="0"/>
            </a:endParaRPr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2D22DEEB-69A1-41A1-A4B3-7C5ED8BF2D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2800" y="5629841"/>
            <a:ext cx="2407920" cy="5847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8" name="Rectangle 3">
            <a:extLst>
              <a:ext uri="{FF2B5EF4-FFF2-40B4-BE49-F238E27FC236}">
                <a16:creationId xmlns:a16="http://schemas.microsoft.com/office/drawing/2014/main" id="{4625BCC9-0FCD-418B-AD7C-CC75F26D8BA7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599440" y="5072664"/>
            <a:ext cx="11064240" cy="147732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Debt Consolidation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 is the most common loan purpose; it also has a high number of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Charged-Off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 loans.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Credit Card, Home Improvement, and Other categories also show moderate levels of default.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Very few loans across all categories remain in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Current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 status.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Loan purpose can help identify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high-risk borrower segments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.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45CC03B7-F9FA-4ECF-BBDC-EF42B66590C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41680" y="1354165"/>
            <a:ext cx="10708640" cy="3595583"/>
          </a:xfrm>
          <a:prstGeom prst="rect">
            <a:avLst/>
          </a:prstGeom>
        </p:spPr>
      </p:pic>
      <p:pic>
        <p:nvPicPr>
          <p:cNvPr id="7" name="Picture 10">
            <a:extLst>
              <a:ext uri="{FF2B5EF4-FFF2-40B4-BE49-F238E27FC236}">
                <a16:creationId xmlns:a16="http://schemas.microsoft.com/office/drawing/2014/main" id="{DE9D6C26-2112-49C4-9FDF-117149FDBA2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41679" y="400305"/>
            <a:ext cx="868680" cy="868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084557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8DC749-B83B-4825-8E59-E41BAE25CF1E}"/>
              </a:ext>
            </a:extLst>
          </p:cNvPr>
          <p:cNvSpPr/>
          <p:nvPr/>
        </p:nvSpPr>
        <p:spPr>
          <a:xfrm>
            <a:off x="269507" y="308008"/>
            <a:ext cx="11652986" cy="6246796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2D4CD7C-B135-47B3-881E-75BC165D53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68120" y="381802"/>
            <a:ext cx="9144001" cy="775653"/>
          </a:xfrm>
        </p:spPr>
        <p:txBody>
          <a:bodyPr>
            <a:normAutofit fontScale="90000"/>
          </a:bodyPr>
          <a:lstStyle/>
          <a:p>
            <a:pPr algn="l"/>
            <a:r>
              <a:rPr lang="en-US" sz="4000" dirty="0">
                <a:solidFill>
                  <a:srgbClr val="CC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Exploratory Data Analysis </a:t>
            </a:r>
            <a:r>
              <a:rPr lang="en-US" sz="3600" dirty="0">
                <a:solidFill>
                  <a:srgbClr val="CC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(Continued)</a:t>
            </a:r>
            <a:endParaRPr lang="en-US" sz="3600" b="1" dirty="0">
              <a:solidFill>
                <a:srgbClr val="CC0000"/>
              </a:solidFill>
              <a:latin typeface="Amazon Ember Display Heavy" panose="020F0803020204020204" pitchFamily="34" charset="0"/>
              <a:ea typeface="Amazon Ember Display Heavy" panose="020F0803020204020204" pitchFamily="34" charset="0"/>
              <a:cs typeface="Amazon Ember Display Heavy" panose="020F0803020204020204" pitchFamily="34" charset="0"/>
            </a:endParaRPr>
          </a:p>
        </p:txBody>
      </p:sp>
      <p:sp>
        <p:nvSpPr>
          <p:cNvPr id="15" name="Rectangle 6">
            <a:extLst>
              <a:ext uri="{FF2B5EF4-FFF2-40B4-BE49-F238E27FC236}">
                <a16:creationId xmlns:a16="http://schemas.microsoft.com/office/drawing/2014/main" id="{2D22DEEB-69A1-41A1-A4B3-7C5ED8BF2D19}"/>
              </a:ext>
            </a:extLst>
          </p:cNvPr>
          <p:cNvSpPr>
            <a:spLocks noChangeArrowheads="1"/>
          </p:cNvSpPr>
          <p:nvPr/>
        </p:nvSpPr>
        <p:spPr bwMode="auto">
          <a:xfrm>
            <a:off x="812800" y="5629841"/>
            <a:ext cx="2407920" cy="58479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748F31E-139B-4A11-BA7A-6AEDE7629FCC}"/>
              </a:ext>
            </a:extLst>
          </p:cNvPr>
          <p:cNvSpPr>
            <a:spLocks noGrp="1" noChangeArrowheads="1"/>
          </p:cNvSpPr>
          <p:nvPr>
            <p:ph type="subTitle" idx="1"/>
          </p:nvPr>
        </p:nvSpPr>
        <p:spPr bwMode="auto">
          <a:xfrm>
            <a:off x="328936" y="5213827"/>
            <a:ext cx="9977411" cy="120032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Installment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 and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Loan Amount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 show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very high correlation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Total Payment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 is strongly correlated with both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Loan Amount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 and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Installment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Annual Income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,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DTI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, and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Interest Rate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 have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weak correlations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 with other features.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No strong multicollinearity issues except the </a:t>
            </a:r>
            <a:r>
              <a:rPr kumimoji="0" lang="en-US" altLang="en-US" sz="1800" b="1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Loan Amount ↔ Installment</a:t>
            </a:r>
            <a:r>
              <a:rPr kumimoji="0" lang="en-US" altLang="en-US" sz="1800" b="0" i="0" u="none" strike="noStrike" cap="none" normalizeH="0" baseline="0" dirty="0">
                <a:ln>
                  <a:noFill/>
                </a:ln>
                <a:solidFill>
                  <a:srgbClr val="333333"/>
                </a:solidFill>
                <a:effectLst/>
                <a:latin typeface="Montserrat" panose="00000500000000000000" pitchFamily="2" charset="0"/>
              </a:rPr>
              <a:t> pair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97F73E21-63F6-484C-9390-7326779DDC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2799" y="1231249"/>
            <a:ext cx="9977411" cy="3885237"/>
          </a:xfrm>
          <a:prstGeom prst="rect">
            <a:avLst/>
          </a:prstGeom>
        </p:spPr>
      </p:pic>
      <p:pic>
        <p:nvPicPr>
          <p:cNvPr id="8" name="Picture 10">
            <a:extLst>
              <a:ext uri="{FF2B5EF4-FFF2-40B4-BE49-F238E27FC236}">
                <a16:creationId xmlns:a16="http://schemas.microsoft.com/office/drawing/2014/main" id="{197580CD-F19F-46EE-A3D9-6581A293A868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9440" y="388905"/>
            <a:ext cx="868680" cy="868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34953467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90E2AA-2BC4-4827-B2FC-214BE3D3AA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7840" y="1534160"/>
            <a:ext cx="11104880" cy="4785360"/>
          </a:xfrm>
        </p:spPr>
        <p:txBody>
          <a:bodyPr>
            <a:normAutofit/>
          </a:bodyPr>
          <a:lstStyle/>
          <a:p>
            <a:pPr algn="l"/>
            <a:r>
              <a:rPr lang="en-US" sz="1900" b="1" dirty="0">
                <a:solidFill>
                  <a:srgbClr val="0F5963"/>
                </a:solidFill>
                <a:latin typeface="Montserrat" panose="00000500000000000000" pitchFamily="2" charset="0"/>
              </a:rPr>
              <a:t>Loan Status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rgbClr val="0F5963"/>
                </a:solidFill>
                <a:latin typeface="Montserrat" panose="00000500000000000000" pitchFamily="2" charset="0"/>
              </a:rPr>
              <a:t>Dataset is </a:t>
            </a:r>
            <a:r>
              <a:rPr lang="en-US" sz="1900" b="1" dirty="0">
                <a:solidFill>
                  <a:srgbClr val="0F5963"/>
                </a:solidFill>
                <a:latin typeface="Montserrat" panose="00000500000000000000" pitchFamily="2" charset="0"/>
              </a:rPr>
              <a:t>imbalanced</a:t>
            </a:r>
            <a:r>
              <a:rPr lang="en-US" sz="1900" dirty="0">
                <a:solidFill>
                  <a:srgbClr val="0F5963"/>
                </a:solidFill>
                <a:latin typeface="Montserrat" panose="00000500000000000000" pitchFamily="2" charset="0"/>
              </a:rPr>
              <a:t> → ~83% Good Loans, ~17% Bad Loans.</a:t>
            </a:r>
          </a:p>
          <a:p>
            <a:pPr algn="l"/>
            <a:endParaRPr lang="en-US" sz="19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pPr algn="l"/>
            <a:r>
              <a:rPr lang="en-US" sz="1900" b="1" dirty="0">
                <a:solidFill>
                  <a:srgbClr val="0F5963"/>
                </a:solidFill>
                <a:latin typeface="Montserrat" panose="00000500000000000000" pitchFamily="2" charset="0"/>
              </a:rPr>
              <a:t>Loan Amount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rgbClr val="0F5963"/>
                </a:solidFill>
                <a:latin typeface="Montserrat" panose="00000500000000000000" pitchFamily="2" charset="0"/>
              </a:rPr>
              <a:t>Most loan amounts fall between </a:t>
            </a:r>
            <a:r>
              <a:rPr lang="en-US" sz="1900" b="1" dirty="0">
                <a:solidFill>
                  <a:srgbClr val="0F5963"/>
                </a:solidFill>
                <a:latin typeface="Montserrat" panose="00000500000000000000" pitchFamily="2" charset="0"/>
              </a:rPr>
              <a:t>$5K–$15K</a:t>
            </a:r>
            <a:r>
              <a:rPr lang="en-US" sz="1900" dirty="0">
                <a:solidFill>
                  <a:srgbClr val="0F5963"/>
                </a:solidFill>
                <a:latin typeface="Montserrat" panose="00000500000000000000" pitchFamily="2" charset="0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900" b="1" dirty="0">
                <a:solidFill>
                  <a:srgbClr val="0F5963"/>
                </a:solidFill>
                <a:latin typeface="Montserrat" panose="00000500000000000000" pitchFamily="2" charset="0"/>
              </a:rPr>
              <a:t>Higher loan amounts</a:t>
            </a:r>
            <a:r>
              <a:rPr lang="en-US" sz="1900" dirty="0">
                <a:solidFill>
                  <a:srgbClr val="0F5963"/>
                </a:solidFill>
                <a:latin typeface="Montserrat" panose="00000500000000000000" pitchFamily="2" charset="0"/>
              </a:rPr>
              <a:t> are more common in </a:t>
            </a:r>
            <a:r>
              <a:rPr lang="en-US" sz="1900" b="1" dirty="0">
                <a:solidFill>
                  <a:srgbClr val="0F5963"/>
                </a:solidFill>
                <a:latin typeface="Montserrat" panose="00000500000000000000" pitchFamily="2" charset="0"/>
              </a:rPr>
              <a:t>Current</a:t>
            </a:r>
            <a:r>
              <a:rPr lang="en-US" sz="1900" dirty="0">
                <a:solidFill>
                  <a:srgbClr val="0F5963"/>
                </a:solidFill>
                <a:latin typeface="Montserrat" panose="00000500000000000000" pitchFamily="2" charset="0"/>
              </a:rPr>
              <a:t> loans.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rgbClr val="0F5963"/>
                </a:solidFill>
                <a:latin typeface="Montserrat" panose="00000500000000000000" pitchFamily="2" charset="0"/>
              </a:rPr>
              <a:t>Borrowers with </a:t>
            </a:r>
            <a:r>
              <a:rPr lang="en-US" sz="1900" b="1" dirty="0">
                <a:solidFill>
                  <a:srgbClr val="0F5963"/>
                </a:solidFill>
                <a:latin typeface="Montserrat" panose="00000500000000000000" pitchFamily="2" charset="0"/>
              </a:rPr>
              <a:t>higher loan amounts</a:t>
            </a:r>
            <a:r>
              <a:rPr lang="en-US" sz="1900" dirty="0">
                <a:solidFill>
                  <a:srgbClr val="0F5963"/>
                </a:solidFill>
                <a:latin typeface="Montserrat" panose="00000500000000000000" pitchFamily="2" charset="0"/>
              </a:rPr>
              <a:t> are more likely to be </a:t>
            </a:r>
            <a:r>
              <a:rPr lang="en-US" sz="1900" b="1" dirty="0">
                <a:solidFill>
                  <a:srgbClr val="0F5963"/>
                </a:solidFill>
                <a:latin typeface="Montserrat" panose="00000500000000000000" pitchFamily="2" charset="0"/>
              </a:rPr>
              <a:t>Charged Off</a:t>
            </a:r>
            <a:r>
              <a:rPr lang="en-US" sz="1900" dirty="0">
                <a:solidFill>
                  <a:srgbClr val="0F5963"/>
                </a:solidFill>
                <a:latin typeface="Montserrat" panose="00000500000000000000" pitchFamily="2" charset="0"/>
              </a:rPr>
              <a:t>.</a:t>
            </a:r>
          </a:p>
          <a:p>
            <a:pPr algn="l"/>
            <a:endParaRPr lang="en-US" sz="1900" b="1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pPr algn="l"/>
            <a:r>
              <a:rPr lang="en-US" sz="1900" b="1" dirty="0">
                <a:solidFill>
                  <a:srgbClr val="0F5963"/>
                </a:solidFill>
                <a:latin typeface="Montserrat" panose="00000500000000000000" pitchFamily="2" charset="0"/>
              </a:rPr>
              <a:t>Interest Rate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900" b="1" dirty="0">
                <a:solidFill>
                  <a:srgbClr val="0F5963"/>
                </a:solidFill>
                <a:latin typeface="Montserrat" panose="00000500000000000000" pitchFamily="2" charset="0"/>
              </a:rPr>
              <a:t>Charged-off loans</a:t>
            </a:r>
            <a:r>
              <a:rPr lang="en-US" sz="1900" dirty="0">
                <a:solidFill>
                  <a:srgbClr val="0F5963"/>
                </a:solidFill>
                <a:latin typeface="Montserrat" panose="00000500000000000000" pitchFamily="2" charset="0"/>
              </a:rPr>
              <a:t> have </a:t>
            </a:r>
            <a:r>
              <a:rPr lang="en-US" sz="1900" b="1" dirty="0">
                <a:solidFill>
                  <a:srgbClr val="0F5963"/>
                </a:solidFill>
                <a:latin typeface="Montserrat" panose="00000500000000000000" pitchFamily="2" charset="0"/>
              </a:rPr>
              <a:t>higher interest rates</a:t>
            </a:r>
            <a:r>
              <a:rPr lang="en-US" sz="1900" dirty="0">
                <a:solidFill>
                  <a:srgbClr val="0F5963"/>
                </a:solidFill>
                <a:latin typeface="Montserrat" panose="00000500000000000000" pitchFamily="2" charset="0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900" b="1" dirty="0">
                <a:solidFill>
                  <a:srgbClr val="0F5963"/>
                </a:solidFill>
                <a:latin typeface="Montserrat" panose="00000500000000000000" pitchFamily="2" charset="0"/>
              </a:rPr>
              <a:t>Fully Paid</a:t>
            </a:r>
            <a:r>
              <a:rPr lang="en-US" sz="1900" dirty="0">
                <a:solidFill>
                  <a:srgbClr val="0F5963"/>
                </a:solidFill>
                <a:latin typeface="Montserrat" panose="00000500000000000000" pitchFamily="2" charset="0"/>
              </a:rPr>
              <a:t> loans have </a:t>
            </a:r>
            <a:r>
              <a:rPr lang="en-US" sz="1900" b="1" dirty="0">
                <a:solidFill>
                  <a:srgbClr val="0F5963"/>
                </a:solidFill>
                <a:latin typeface="Montserrat" panose="00000500000000000000" pitchFamily="2" charset="0"/>
              </a:rPr>
              <a:t>lower interest rates</a:t>
            </a:r>
            <a:r>
              <a:rPr lang="en-US" sz="1900" dirty="0">
                <a:solidFill>
                  <a:srgbClr val="0F5963"/>
                </a:solidFill>
                <a:latin typeface="Montserrat" panose="00000500000000000000" pitchFamily="2" charset="0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900" dirty="0">
                <a:solidFill>
                  <a:srgbClr val="0F5963"/>
                </a:solidFill>
                <a:latin typeface="Montserrat" panose="00000500000000000000" pitchFamily="2" charset="0"/>
              </a:rPr>
              <a:t>Higher interest rates increase the chance of </a:t>
            </a:r>
            <a:r>
              <a:rPr lang="en-US" sz="1900" b="1" dirty="0">
                <a:solidFill>
                  <a:srgbClr val="0F5963"/>
                </a:solidFill>
                <a:latin typeface="Montserrat" panose="00000500000000000000" pitchFamily="2" charset="0"/>
              </a:rPr>
              <a:t>default</a:t>
            </a:r>
            <a:r>
              <a:rPr lang="en-US" sz="1900" dirty="0">
                <a:solidFill>
                  <a:srgbClr val="0F5963"/>
                </a:solidFill>
                <a:latin typeface="Montserrat" panose="00000500000000000000" pitchFamily="2" charset="0"/>
              </a:rPr>
              <a:t>.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8DC749-B83B-4825-8E59-E41BAE25CF1E}"/>
              </a:ext>
            </a:extLst>
          </p:cNvPr>
          <p:cNvSpPr/>
          <p:nvPr/>
        </p:nvSpPr>
        <p:spPr>
          <a:xfrm>
            <a:off x="340627" y="455596"/>
            <a:ext cx="11652986" cy="6246796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2D4CD7C-B135-47B3-881E-75BC165D53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78279" y="879565"/>
            <a:ext cx="9144001" cy="804529"/>
          </a:xfrm>
        </p:spPr>
        <p:txBody>
          <a:bodyPr>
            <a:normAutofit fontScale="90000"/>
          </a:bodyPr>
          <a:lstStyle/>
          <a:p>
            <a:pPr algn="l"/>
            <a:br>
              <a:rPr lang="en-US" sz="1100" dirty="0"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</a:br>
            <a:br>
              <a:rPr lang="en-US" sz="1100" dirty="0"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</a:br>
            <a:r>
              <a:rPr lang="en-US" sz="4000" dirty="0">
                <a:solidFill>
                  <a:srgbClr val="CC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Key</a:t>
            </a:r>
            <a:r>
              <a:rPr lang="en-US" sz="4000" dirty="0"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 </a:t>
            </a:r>
            <a:r>
              <a:rPr lang="en-US" sz="4000" dirty="0">
                <a:solidFill>
                  <a:srgbClr val="CC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Insights</a:t>
            </a:r>
            <a:r>
              <a:rPr lang="en-US" sz="4000" dirty="0"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 </a:t>
            </a:r>
            <a:r>
              <a:rPr lang="en-US" sz="4000" dirty="0">
                <a:solidFill>
                  <a:srgbClr val="CC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from EDA</a:t>
            </a:r>
            <a:br>
              <a:rPr lang="en-US" sz="1100" dirty="0"/>
            </a:br>
            <a:endParaRPr lang="en-US" sz="4000" b="1" dirty="0">
              <a:solidFill>
                <a:srgbClr val="CC0000"/>
              </a:solidFill>
              <a:latin typeface="Amazon Ember Display Heavy" panose="020F0803020204020204" pitchFamily="34" charset="0"/>
              <a:ea typeface="Amazon Ember Display Heavy" panose="020F0803020204020204" pitchFamily="34" charset="0"/>
              <a:cs typeface="Amazon Ember Display Heavy" panose="020F0803020204020204" pitchFamily="34" charset="0"/>
            </a:endParaRPr>
          </a:p>
        </p:txBody>
      </p:sp>
      <p:pic>
        <p:nvPicPr>
          <p:cNvPr id="6" name="Picture 10">
            <a:extLst>
              <a:ext uri="{FF2B5EF4-FFF2-40B4-BE49-F238E27FC236}">
                <a16:creationId xmlns:a16="http://schemas.microsoft.com/office/drawing/2014/main" id="{1B8872A6-716E-4735-99FB-E706955AFF0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4974" y="516709"/>
            <a:ext cx="868680" cy="868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150870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>
            <a:extLst>
              <a:ext uri="{FF2B5EF4-FFF2-40B4-BE49-F238E27FC236}">
                <a16:creationId xmlns:a16="http://schemas.microsoft.com/office/drawing/2014/main" id="{7690E2AA-2BC4-4827-B2FC-214BE3D3AA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97840" y="1534160"/>
            <a:ext cx="11104880" cy="5008880"/>
          </a:xfrm>
        </p:spPr>
        <p:txBody>
          <a:bodyPr>
            <a:normAutofit fontScale="92500" lnSpcReduction="10000"/>
          </a:bodyPr>
          <a:lstStyle/>
          <a:p>
            <a:pPr algn="l"/>
            <a:r>
              <a:rPr lang="en-US" sz="1800" b="1" dirty="0">
                <a:solidFill>
                  <a:srgbClr val="0F5963"/>
                </a:solidFill>
                <a:latin typeface="Montserrat" panose="00000500000000000000" pitchFamily="2" charset="0"/>
              </a:rPr>
              <a:t>DTI (Debt-to-Income Ratio)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0F5963"/>
                </a:solidFill>
                <a:latin typeface="Montserrat" panose="00000500000000000000" pitchFamily="2" charset="0"/>
              </a:rPr>
              <a:t>Charged-off borrowers</a:t>
            </a:r>
            <a:r>
              <a:rPr lang="en-US" sz="1800" dirty="0">
                <a:solidFill>
                  <a:srgbClr val="0F5963"/>
                </a:solidFill>
                <a:latin typeface="Montserrat" panose="00000500000000000000" pitchFamily="2" charset="0"/>
              </a:rPr>
              <a:t> have </a:t>
            </a:r>
            <a:r>
              <a:rPr lang="en-US" sz="1800" b="1" dirty="0">
                <a:solidFill>
                  <a:srgbClr val="0F5963"/>
                </a:solidFill>
                <a:latin typeface="Montserrat" panose="00000500000000000000" pitchFamily="2" charset="0"/>
              </a:rPr>
              <a:t>higher DTI</a:t>
            </a:r>
            <a:r>
              <a:rPr lang="en-US" sz="1800" dirty="0">
                <a:solidFill>
                  <a:srgbClr val="0F5963"/>
                </a:solidFill>
                <a:latin typeface="Montserrat" panose="00000500000000000000" pitchFamily="2" charset="0"/>
              </a:rPr>
              <a:t> than Fully Paid borrowers.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F5963"/>
                </a:solidFill>
                <a:latin typeface="Montserrat" panose="00000500000000000000" pitchFamily="2" charset="0"/>
              </a:rPr>
              <a:t>Higher DTI increases the likelihood of </a:t>
            </a:r>
            <a:r>
              <a:rPr lang="en-US" sz="1800" b="1" dirty="0">
                <a:solidFill>
                  <a:srgbClr val="0F5963"/>
                </a:solidFill>
                <a:latin typeface="Montserrat" panose="00000500000000000000" pitchFamily="2" charset="0"/>
              </a:rPr>
              <a:t>loan default</a:t>
            </a:r>
            <a:r>
              <a:rPr lang="en-US" sz="1800" dirty="0">
                <a:solidFill>
                  <a:srgbClr val="0F5963"/>
                </a:solidFill>
                <a:latin typeface="Montserrat" panose="00000500000000000000" pitchFamily="2" charset="0"/>
              </a:rPr>
              <a:t>.</a:t>
            </a:r>
          </a:p>
          <a:p>
            <a:pPr algn="l"/>
            <a:endParaRPr lang="en-US" sz="18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pPr algn="l"/>
            <a:r>
              <a:rPr lang="en-US" sz="1800" b="1" dirty="0">
                <a:solidFill>
                  <a:srgbClr val="0F5963"/>
                </a:solidFill>
                <a:latin typeface="Montserrat" panose="00000500000000000000" pitchFamily="2" charset="0"/>
              </a:rPr>
              <a:t>Loan Grade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F5963"/>
                </a:solidFill>
                <a:latin typeface="Montserrat" panose="00000500000000000000" pitchFamily="2" charset="0"/>
              </a:rPr>
              <a:t>Lower grades (</a:t>
            </a:r>
            <a:r>
              <a:rPr lang="en-US" sz="1800" b="1" dirty="0">
                <a:solidFill>
                  <a:srgbClr val="0F5963"/>
                </a:solidFill>
                <a:latin typeface="Montserrat" panose="00000500000000000000" pitchFamily="2" charset="0"/>
              </a:rPr>
              <a:t>E, F, G</a:t>
            </a:r>
            <a:r>
              <a:rPr lang="en-US" sz="1800" dirty="0">
                <a:solidFill>
                  <a:srgbClr val="0F5963"/>
                </a:solidFill>
                <a:latin typeface="Montserrat" panose="00000500000000000000" pitchFamily="2" charset="0"/>
              </a:rPr>
              <a:t>) show </a:t>
            </a:r>
            <a:r>
              <a:rPr lang="en-US" sz="1800" b="1" dirty="0">
                <a:solidFill>
                  <a:srgbClr val="0F5963"/>
                </a:solidFill>
                <a:latin typeface="Montserrat" panose="00000500000000000000" pitchFamily="2" charset="0"/>
              </a:rPr>
              <a:t>higher default rates</a:t>
            </a:r>
            <a:r>
              <a:rPr lang="en-US" sz="1800" dirty="0">
                <a:solidFill>
                  <a:srgbClr val="0F5963"/>
                </a:solidFill>
                <a:latin typeface="Montserrat" panose="00000500000000000000" pitchFamily="2" charset="0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F5963"/>
                </a:solidFill>
                <a:latin typeface="Montserrat" panose="00000500000000000000" pitchFamily="2" charset="0"/>
              </a:rPr>
              <a:t>Higher grades (</a:t>
            </a:r>
            <a:r>
              <a:rPr lang="en-US" sz="1800" b="1" dirty="0">
                <a:solidFill>
                  <a:srgbClr val="0F5963"/>
                </a:solidFill>
                <a:latin typeface="Montserrat" panose="00000500000000000000" pitchFamily="2" charset="0"/>
              </a:rPr>
              <a:t>A, B, C</a:t>
            </a:r>
            <a:r>
              <a:rPr lang="en-US" sz="1800" dirty="0">
                <a:solidFill>
                  <a:srgbClr val="0F5963"/>
                </a:solidFill>
                <a:latin typeface="Montserrat" panose="00000500000000000000" pitchFamily="2" charset="0"/>
              </a:rPr>
              <a:t>) indicate </a:t>
            </a:r>
            <a:r>
              <a:rPr lang="en-US" sz="1800" b="1" dirty="0">
                <a:solidFill>
                  <a:srgbClr val="0F5963"/>
                </a:solidFill>
                <a:latin typeface="Montserrat" panose="00000500000000000000" pitchFamily="2" charset="0"/>
              </a:rPr>
              <a:t>lower risk</a:t>
            </a:r>
            <a:r>
              <a:rPr lang="en-US" sz="1800" dirty="0">
                <a:solidFill>
                  <a:srgbClr val="0F5963"/>
                </a:solidFill>
                <a:latin typeface="Montserrat" panose="00000500000000000000" pitchFamily="2" charset="0"/>
              </a:rPr>
              <a:t>.</a:t>
            </a:r>
          </a:p>
          <a:p>
            <a:pPr algn="l"/>
            <a:endParaRPr lang="en-US" sz="18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pPr algn="l"/>
            <a:r>
              <a:rPr lang="en-US" sz="1800" b="1" dirty="0">
                <a:solidFill>
                  <a:srgbClr val="0F5963"/>
                </a:solidFill>
                <a:latin typeface="Montserrat" panose="00000500000000000000" pitchFamily="2" charset="0"/>
              </a:rPr>
              <a:t>Loan Purpose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0F5963"/>
                </a:solidFill>
                <a:latin typeface="Montserrat" panose="00000500000000000000" pitchFamily="2" charset="0"/>
              </a:rPr>
              <a:t>Debt Consolidation</a:t>
            </a:r>
            <a:r>
              <a:rPr lang="en-US" sz="1800" dirty="0">
                <a:solidFill>
                  <a:srgbClr val="0F5963"/>
                </a:solidFill>
                <a:latin typeface="Montserrat" panose="00000500000000000000" pitchFamily="2" charset="0"/>
              </a:rPr>
              <a:t> is the largest category and has the </a:t>
            </a:r>
            <a:r>
              <a:rPr lang="en-US" sz="1800" b="1" dirty="0">
                <a:solidFill>
                  <a:srgbClr val="0F5963"/>
                </a:solidFill>
                <a:latin typeface="Montserrat" panose="00000500000000000000" pitchFamily="2" charset="0"/>
              </a:rPr>
              <a:t>most defaults</a:t>
            </a:r>
            <a:r>
              <a:rPr lang="en-US" sz="1800" dirty="0">
                <a:solidFill>
                  <a:srgbClr val="0F5963"/>
                </a:solidFill>
                <a:latin typeface="Montserrat" panose="00000500000000000000" pitchFamily="2" charset="0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F5963"/>
                </a:solidFill>
                <a:latin typeface="Montserrat" panose="00000500000000000000" pitchFamily="2" charset="0"/>
              </a:rPr>
              <a:t>Other risky purposes: </a:t>
            </a:r>
            <a:r>
              <a:rPr lang="en-US" sz="1800" b="1" dirty="0">
                <a:solidFill>
                  <a:srgbClr val="0F5963"/>
                </a:solidFill>
                <a:latin typeface="Montserrat" panose="00000500000000000000" pitchFamily="2" charset="0"/>
              </a:rPr>
              <a:t>Credit Card</a:t>
            </a:r>
            <a:r>
              <a:rPr lang="en-US" sz="1800" dirty="0">
                <a:solidFill>
                  <a:srgbClr val="0F5963"/>
                </a:solidFill>
                <a:latin typeface="Montserrat" panose="00000500000000000000" pitchFamily="2" charset="0"/>
              </a:rPr>
              <a:t>, </a:t>
            </a:r>
            <a:r>
              <a:rPr lang="en-US" sz="1800" b="1" dirty="0">
                <a:solidFill>
                  <a:srgbClr val="0F5963"/>
                </a:solidFill>
                <a:latin typeface="Montserrat" panose="00000500000000000000" pitchFamily="2" charset="0"/>
              </a:rPr>
              <a:t>Home Improvement</a:t>
            </a:r>
            <a:r>
              <a:rPr lang="en-US" sz="1800" dirty="0">
                <a:solidFill>
                  <a:srgbClr val="0F5963"/>
                </a:solidFill>
                <a:latin typeface="Montserrat" panose="00000500000000000000" pitchFamily="2" charset="0"/>
              </a:rPr>
              <a:t>, </a:t>
            </a:r>
            <a:r>
              <a:rPr lang="en-US" sz="1800" b="1" dirty="0">
                <a:solidFill>
                  <a:srgbClr val="0F5963"/>
                </a:solidFill>
                <a:latin typeface="Montserrat" panose="00000500000000000000" pitchFamily="2" charset="0"/>
              </a:rPr>
              <a:t>Other</a:t>
            </a:r>
            <a:r>
              <a:rPr lang="en-US" sz="1800" dirty="0">
                <a:solidFill>
                  <a:srgbClr val="0F5963"/>
                </a:solidFill>
                <a:latin typeface="Montserrat" panose="00000500000000000000" pitchFamily="2" charset="0"/>
              </a:rPr>
              <a:t>.</a:t>
            </a:r>
          </a:p>
          <a:p>
            <a:pPr algn="l"/>
            <a:endParaRPr lang="en-US" sz="18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pPr algn="l"/>
            <a:r>
              <a:rPr lang="en-US" sz="1800" b="1" dirty="0">
                <a:solidFill>
                  <a:srgbClr val="0F5963"/>
                </a:solidFill>
                <a:latin typeface="Montserrat" panose="00000500000000000000" pitchFamily="2" charset="0"/>
              </a:rPr>
              <a:t>Correlation Insights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800" b="1" dirty="0">
                <a:solidFill>
                  <a:srgbClr val="0F5963"/>
                </a:solidFill>
                <a:latin typeface="Montserrat" panose="00000500000000000000" pitchFamily="2" charset="0"/>
              </a:rPr>
              <a:t>Loan Amount ↔ Installment</a:t>
            </a:r>
            <a:r>
              <a:rPr lang="en-US" sz="1800" dirty="0">
                <a:solidFill>
                  <a:srgbClr val="0F5963"/>
                </a:solidFill>
                <a:latin typeface="Montserrat" panose="00000500000000000000" pitchFamily="2" charset="0"/>
              </a:rPr>
              <a:t> show </a:t>
            </a:r>
            <a:r>
              <a:rPr lang="en-US" sz="1800" b="1" dirty="0">
                <a:solidFill>
                  <a:srgbClr val="0F5963"/>
                </a:solidFill>
                <a:latin typeface="Montserrat" panose="00000500000000000000" pitchFamily="2" charset="0"/>
              </a:rPr>
              <a:t>very high correlation</a:t>
            </a:r>
            <a:r>
              <a:rPr lang="en-US" sz="1800" dirty="0">
                <a:solidFill>
                  <a:srgbClr val="0F5963"/>
                </a:solidFill>
                <a:latin typeface="Montserrat" panose="00000500000000000000" pitchFamily="2" charset="0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1800" dirty="0">
                <a:solidFill>
                  <a:srgbClr val="0F5963"/>
                </a:solidFill>
                <a:latin typeface="Montserrat" panose="00000500000000000000" pitchFamily="2" charset="0"/>
              </a:rPr>
              <a:t>All other numerical features show </a:t>
            </a:r>
            <a:r>
              <a:rPr lang="en-US" sz="1800" b="1" dirty="0">
                <a:solidFill>
                  <a:srgbClr val="0F5963"/>
                </a:solidFill>
                <a:latin typeface="Montserrat" panose="00000500000000000000" pitchFamily="2" charset="0"/>
              </a:rPr>
              <a:t>weak correlation</a:t>
            </a:r>
            <a:r>
              <a:rPr lang="en-US" sz="1800" dirty="0">
                <a:solidFill>
                  <a:srgbClr val="0F5963"/>
                </a:solidFill>
                <a:latin typeface="Montserrat" panose="00000500000000000000" pitchFamily="2" charset="0"/>
              </a:rPr>
              <a:t> → </a:t>
            </a:r>
            <a:r>
              <a:rPr lang="en-US" sz="1800" b="1" dirty="0">
                <a:solidFill>
                  <a:srgbClr val="0F5963"/>
                </a:solidFill>
                <a:latin typeface="Montserrat" panose="00000500000000000000" pitchFamily="2" charset="0"/>
              </a:rPr>
              <a:t>no multicollinearity issues</a:t>
            </a:r>
            <a:r>
              <a:rPr lang="en-US" sz="1800" dirty="0">
                <a:solidFill>
                  <a:srgbClr val="0F5963"/>
                </a:solidFill>
                <a:latin typeface="Montserrat" panose="00000500000000000000" pitchFamily="2" charset="0"/>
              </a:rPr>
              <a:t>.</a:t>
            </a:r>
          </a:p>
          <a:p>
            <a:endParaRPr lang="en-US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A8DC749-B83B-4825-8E59-E41BAE25CF1E}"/>
              </a:ext>
            </a:extLst>
          </p:cNvPr>
          <p:cNvSpPr/>
          <p:nvPr/>
        </p:nvSpPr>
        <p:spPr>
          <a:xfrm>
            <a:off x="340627" y="455596"/>
            <a:ext cx="11652986" cy="6246796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A2D4CD7C-B135-47B3-881E-75BC165D53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50836" y="968752"/>
            <a:ext cx="9144001" cy="804529"/>
          </a:xfrm>
        </p:spPr>
        <p:txBody>
          <a:bodyPr>
            <a:normAutofit fontScale="90000"/>
          </a:bodyPr>
          <a:lstStyle/>
          <a:p>
            <a:pPr algn="l"/>
            <a:br>
              <a:rPr lang="en-US" sz="1100" dirty="0"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</a:br>
            <a:br>
              <a:rPr lang="en-US" sz="1100" dirty="0"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</a:br>
            <a:r>
              <a:rPr lang="en-US" sz="4400" dirty="0">
                <a:solidFill>
                  <a:srgbClr val="CC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Key</a:t>
            </a:r>
            <a:r>
              <a:rPr lang="en-US" sz="4400" dirty="0"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 </a:t>
            </a:r>
            <a:r>
              <a:rPr lang="en-US" sz="4400" dirty="0">
                <a:solidFill>
                  <a:srgbClr val="CC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Insights from EDA</a:t>
            </a:r>
            <a:r>
              <a:rPr lang="en-US" sz="4400" dirty="0"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 </a:t>
            </a:r>
            <a:br>
              <a:rPr lang="en-US" sz="1100" dirty="0"/>
            </a:br>
            <a:endParaRPr lang="en-US" sz="4000" b="1" dirty="0">
              <a:solidFill>
                <a:srgbClr val="CC0000"/>
              </a:solidFill>
              <a:latin typeface="Amazon Ember Display Heavy" panose="020F0803020204020204" pitchFamily="34" charset="0"/>
              <a:ea typeface="Amazon Ember Display Heavy" panose="020F0803020204020204" pitchFamily="34" charset="0"/>
              <a:cs typeface="Amazon Ember Display Heavy" panose="020F0803020204020204" pitchFamily="34" charset="0"/>
            </a:endParaRPr>
          </a:p>
        </p:txBody>
      </p:sp>
      <p:pic>
        <p:nvPicPr>
          <p:cNvPr id="6" name="Picture 10">
            <a:extLst>
              <a:ext uri="{FF2B5EF4-FFF2-40B4-BE49-F238E27FC236}">
                <a16:creationId xmlns:a16="http://schemas.microsoft.com/office/drawing/2014/main" id="{394CCA80-2281-4B00-92FD-E69C05E929F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82156" y="534412"/>
            <a:ext cx="868680" cy="868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2219040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8DC749-B83B-4825-8E59-E41BAE25CF1E}"/>
              </a:ext>
            </a:extLst>
          </p:cNvPr>
          <p:cNvSpPr/>
          <p:nvPr/>
        </p:nvSpPr>
        <p:spPr>
          <a:xfrm>
            <a:off x="340627" y="455596"/>
            <a:ext cx="11652986" cy="6246796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5401B907-336C-467F-9968-B44395FCA4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76962" y="572635"/>
            <a:ext cx="10789920" cy="738497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C0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Feature Engineering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D509C2-10E7-41A1-AE27-5862EB2013DD}"/>
              </a:ext>
            </a:extLst>
          </p:cNvPr>
          <p:cNvSpPr txBox="1"/>
          <p:nvPr/>
        </p:nvSpPr>
        <p:spPr>
          <a:xfrm>
            <a:off x="548640" y="1509756"/>
            <a:ext cx="11094720" cy="55092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1. Date Feature Extraction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Extracted </a:t>
            </a:r>
            <a:r>
              <a:rPr lang="en-US" sz="1600" b="1" dirty="0" err="1">
                <a:solidFill>
                  <a:srgbClr val="0F5963"/>
                </a:solidFill>
                <a:latin typeface="Montserrat" panose="00000500000000000000" pitchFamily="2" charset="0"/>
              </a:rPr>
              <a:t>issue_year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 and </a:t>
            </a:r>
            <a:r>
              <a:rPr lang="en-US" sz="1600" b="1" dirty="0" err="1">
                <a:solidFill>
                  <a:srgbClr val="0F5963"/>
                </a:solidFill>
                <a:latin typeface="Montserrat" panose="00000500000000000000" pitchFamily="2" charset="0"/>
              </a:rPr>
              <a:t>issue_month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 from the loan issue date</a:t>
            </a:r>
            <a:b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</a:b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→ helps analyze trends over time.</a:t>
            </a:r>
          </a:p>
          <a:p>
            <a:endParaRPr lang="en-US" sz="16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2. Income Bucketing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Grouped annual income into </a:t>
            </a:r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Low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, </a:t>
            </a:r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Medium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, </a:t>
            </a:r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High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, and </a:t>
            </a:r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Very High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 categories</a:t>
            </a:r>
            <a:b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</a:b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→ simplifies analysis and improves model interpretability.</a:t>
            </a:r>
          </a:p>
          <a:p>
            <a:endParaRPr lang="en-US" sz="16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3. Income-to-Loan Ratio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Created a new feature: </a:t>
            </a:r>
            <a:r>
              <a:rPr lang="en-US" sz="1600" b="1" dirty="0" err="1">
                <a:solidFill>
                  <a:srgbClr val="0F5963"/>
                </a:solidFill>
                <a:latin typeface="Montserrat" panose="00000500000000000000" pitchFamily="2" charset="0"/>
              </a:rPr>
              <a:t>income_to_loan_ratio</a:t>
            </a:r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 = </a:t>
            </a:r>
            <a:r>
              <a:rPr lang="en-US" sz="1600" b="1" dirty="0" err="1">
                <a:solidFill>
                  <a:srgbClr val="0F5963"/>
                </a:solidFill>
                <a:latin typeface="Montserrat" panose="00000500000000000000" pitchFamily="2" charset="0"/>
              </a:rPr>
              <a:t>annual_income</a:t>
            </a:r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 / </a:t>
            </a:r>
            <a:r>
              <a:rPr lang="en-US" sz="1600" b="1" dirty="0" err="1">
                <a:solidFill>
                  <a:srgbClr val="0F5963"/>
                </a:solidFill>
                <a:latin typeface="Montserrat" panose="00000500000000000000" pitchFamily="2" charset="0"/>
              </a:rPr>
              <a:t>loan_amount</a:t>
            </a:r>
            <a:b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</a:b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→ captures borrower repayment capacity more effectively.</a:t>
            </a:r>
          </a:p>
          <a:p>
            <a:endParaRPr lang="en-US" sz="16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4. DTI Bucketing 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Converted continuous DTI values into risk buckets</a:t>
            </a:r>
            <a:b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</a:b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→ </a:t>
            </a:r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Low DTI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, </a:t>
            </a:r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Medium DTI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, </a:t>
            </a:r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High DTI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 groups.</a:t>
            </a:r>
          </a:p>
          <a:p>
            <a:endParaRPr lang="en-US" sz="16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5. Interest Rate Bucketing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Converted continuous interest rates into labeled buckets such as:</a:t>
            </a:r>
            <a:b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</a:br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Low (≤10%)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, </a:t>
            </a:r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Medium (10–15%)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, </a:t>
            </a:r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High (&gt;15%)</a:t>
            </a:r>
            <a:endParaRPr lang="en-US" sz="16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Helps group borrowers based on the cost of borrowing, making it easier to analyze default patterns.</a:t>
            </a:r>
          </a:p>
          <a:p>
            <a:endParaRPr lang="en-US" sz="16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endParaRPr lang="en-US" sz="1600" dirty="0">
              <a:solidFill>
                <a:srgbClr val="0F5963"/>
              </a:solidFill>
              <a:latin typeface="Montserrat" panose="00000500000000000000" pitchFamily="2" charset="0"/>
            </a:endParaRPr>
          </a:p>
        </p:txBody>
      </p:sp>
      <p:pic>
        <p:nvPicPr>
          <p:cNvPr id="5" name="Picture 10">
            <a:extLst>
              <a:ext uri="{FF2B5EF4-FFF2-40B4-BE49-F238E27FC236}">
                <a16:creationId xmlns:a16="http://schemas.microsoft.com/office/drawing/2014/main" id="{A0AD8E99-E852-443A-B5AA-67A33B17F3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282" y="548336"/>
            <a:ext cx="868680" cy="868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55902032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8DC749-B83B-4825-8E59-E41BAE25CF1E}"/>
              </a:ext>
            </a:extLst>
          </p:cNvPr>
          <p:cNvSpPr/>
          <p:nvPr/>
        </p:nvSpPr>
        <p:spPr>
          <a:xfrm>
            <a:off x="340627" y="455596"/>
            <a:ext cx="11652986" cy="6246796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5401B907-336C-467F-9968-B44395FCA4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76962" y="572635"/>
            <a:ext cx="10789920" cy="738497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CC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SQL Data Storage &amp; Querying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D509C2-10E7-41A1-AE27-5862EB2013DD}"/>
              </a:ext>
            </a:extLst>
          </p:cNvPr>
          <p:cNvSpPr txBox="1"/>
          <p:nvPr/>
        </p:nvSpPr>
        <p:spPr>
          <a:xfrm>
            <a:off x="548640" y="1509756"/>
            <a:ext cx="11094720" cy="55707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Why SQL?</a:t>
            </a:r>
          </a:p>
          <a:p>
            <a:endParaRPr lang="en-US" sz="1600" b="1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After cleaning and preparing the dataset in Python, the final </a:t>
            </a:r>
            <a:r>
              <a:rPr lang="en-US" sz="1600" dirty="0" err="1">
                <a:solidFill>
                  <a:srgbClr val="0F5963"/>
                </a:solidFill>
                <a:latin typeface="Montserrat" panose="00000500000000000000" pitchFamily="2" charset="0"/>
              </a:rPr>
              <a:t>DataFrame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 was uploaded into a SQL database for:</a:t>
            </a:r>
          </a:p>
          <a:p>
            <a:endParaRPr lang="en-US" sz="16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Efficient querying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KPI calculations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Portfolio segmentation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Data validation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Power BI connection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1600" dirty="0">
              <a:solidFill>
                <a:srgbClr val="CC0000"/>
              </a:solidFill>
              <a:latin typeface="Montserrat" panose="00000500000000000000" pitchFamily="2" charset="0"/>
            </a:endParaRPr>
          </a:p>
          <a:p>
            <a:r>
              <a:rPr lang="en-US" sz="2000" b="1" dirty="0">
                <a:solidFill>
                  <a:srgbClr val="CC0000"/>
                </a:solidFill>
                <a:latin typeface="Montserrat" panose="00000500000000000000" pitchFamily="2" charset="0"/>
              </a:rPr>
              <a:t>Database Setup: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000" b="1" dirty="0">
              <a:solidFill>
                <a:srgbClr val="CC0000"/>
              </a:solidFill>
              <a:latin typeface="Montserrat" panose="00000500000000000000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CREATE DATABASE Bank loan data;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USE Bank loan data;</a:t>
            </a:r>
          </a:p>
          <a:p>
            <a:endParaRPr lang="en-US" sz="2000" dirty="0">
              <a:solidFill>
                <a:srgbClr val="CC0000"/>
              </a:solidFill>
              <a:latin typeface="Montserrat" panose="00000500000000000000" pitchFamily="2" charset="0"/>
            </a:endParaRPr>
          </a:p>
          <a:p>
            <a:endParaRPr lang="en-US" sz="1600" dirty="0">
              <a:solidFill>
                <a:srgbClr val="0F5963"/>
              </a:solidFill>
              <a:latin typeface="Montserrat" panose="00000500000000000000" pitchFamily="2" charset="0"/>
            </a:endParaRPr>
          </a:p>
        </p:txBody>
      </p:sp>
      <p:pic>
        <p:nvPicPr>
          <p:cNvPr id="7" name="Picture 14" descr="SQL icon in Windows 11 Color Style">
            <a:extLst>
              <a:ext uri="{FF2B5EF4-FFF2-40B4-BE49-F238E27FC236}">
                <a16:creationId xmlns:a16="http://schemas.microsoft.com/office/drawing/2014/main" id="{D4C14396-2BDE-4EA4-AD48-018D395537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0042" y="518600"/>
            <a:ext cx="868680" cy="868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269620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8DC749-B83B-4825-8E59-E41BAE25CF1E}"/>
              </a:ext>
            </a:extLst>
          </p:cNvPr>
          <p:cNvSpPr/>
          <p:nvPr/>
        </p:nvSpPr>
        <p:spPr>
          <a:xfrm>
            <a:off x="340627" y="455596"/>
            <a:ext cx="11652986" cy="6246796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5401B907-336C-467F-9968-B44395FCA4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76962" y="572635"/>
            <a:ext cx="10789920" cy="738497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C0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SQL Analysis &amp; KPIs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D509C2-10E7-41A1-AE27-5862EB2013DD}"/>
              </a:ext>
            </a:extLst>
          </p:cNvPr>
          <p:cNvSpPr txBox="1"/>
          <p:nvPr/>
        </p:nvSpPr>
        <p:spPr>
          <a:xfrm>
            <a:off x="548640" y="1509756"/>
            <a:ext cx="11094720" cy="62478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Montserrat" panose="00000500000000000000" pitchFamily="2" charset="0"/>
              </a:rPr>
              <a:t>Table Creation:</a:t>
            </a:r>
          </a:p>
          <a:p>
            <a:endParaRPr lang="en-US" sz="1600" b="1" dirty="0">
              <a:solidFill>
                <a:srgbClr val="C00000"/>
              </a:solidFill>
              <a:latin typeface="Montserrat" panose="00000500000000000000" pitchFamily="2" charset="0"/>
            </a:endParaRPr>
          </a:p>
          <a:p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CREATE TABLE </a:t>
            </a:r>
            <a:r>
              <a:rPr lang="en-US" sz="1600" dirty="0" err="1">
                <a:solidFill>
                  <a:srgbClr val="0F5963"/>
                </a:solidFill>
                <a:latin typeface="Montserrat" panose="00000500000000000000" pitchFamily="2" charset="0"/>
              </a:rPr>
              <a:t>loans_cleaned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 AS</a:t>
            </a:r>
          </a:p>
          <a:p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SELECT * FROM </a:t>
            </a:r>
            <a:r>
              <a:rPr lang="en-US" sz="1600" dirty="0" err="1">
                <a:solidFill>
                  <a:srgbClr val="0F5963"/>
                </a:solidFill>
                <a:latin typeface="Montserrat" panose="00000500000000000000" pitchFamily="2" charset="0"/>
              </a:rPr>
              <a:t>loans_python_clean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;</a:t>
            </a:r>
          </a:p>
          <a:p>
            <a:endParaRPr lang="en-US" sz="1600" dirty="0">
              <a:latin typeface="Montserrat" panose="00000500000000000000" pitchFamily="2" charset="0"/>
            </a:endParaRPr>
          </a:p>
          <a:p>
            <a:r>
              <a:rPr lang="en-US" sz="1600" b="1" dirty="0">
                <a:solidFill>
                  <a:srgbClr val="C00000"/>
                </a:solidFill>
                <a:latin typeface="Montserrat" panose="00000500000000000000" pitchFamily="2" charset="0"/>
              </a:rPr>
              <a:t>1.Portfolio Overview:</a:t>
            </a:r>
          </a:p>
          <a:p>
            <a:endParaRPr lang="en-US" sz="1600" b="1" dirty="0">
              <a:solidFill>
                <a:srgbClr val="C00000"/>
              </a:solidFill>
              <a:latin typeface="Montserrat" panose="00000500000000000000" pitchFamily="2" charset="0"/>
            </a:endParaRPr>
          </a:p>
          <a:p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SELECT </a:t>
            </a:r>
          </a:p>
          <a:p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  COUNT(*) AS </a:t>
            </a:r>
            <a:r>
              <a:rPr lang="en-US" sz="1600" dirty="0" err="1">
                <a:solidFill>
                  <a:srgbClr val="0F5963"/>
                </a:solidFill>
                <a:latin typeface="Montserrat" panose="00000500000000000000" pitchFamily="2" charset="0"/>
              </a:rPr>
              <a:t>total_loans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,</a:t>
            </a:r>
          </a:p>
          <a:p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  SUM(CASE WHEN </a:t>
            </a:r>
            <a:r>
              <a:rPr lang="en-US" sz="1600" dirty="0" err="1">
                <a:solidFill>
                  <a:srgbClr val="0F5963"/>
                </a:solidFill>
                <a:latin typeface="Montserrat" panose="00000500000000000000" pitchFamily="2" charset="0"/>
              </a:rPr>
              <a:t>loan_status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='Good' THEN 1 END) AS </a:t>
            </a:r>
            <a:r>
              <a:rPr lang="en-US" sz="1600" dirty="0" err="1">
                <a:solidFill>
                  <a:srgbClr val="0F5963"/>
                </a:solidFill>
                <a:latin typeface="Montserrat" panose="00000500000000000000" pitchFamily="2" charset="0"/>
              </a:rPr>
              <a:t>good_loans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,</a:t>
            </a:r>
          </a:p>
          <a:p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  SUM(CASE WHEN </a:t>
            </a:r>
            <a:r>
              <a:rPr lang="en-US" sz="1600" dirty="0" err="1">
                <a:solidFill>
                  <a:srgbClr val="0F5963"/>
                </a:solidFill>
                <a:latin typeface="Montserrat" panose="00000500000000000000" pitchFamily="2" charset="0"/>
              </a:rPr>
              <a:t>loan_status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='Bad' THEN 1 END) AS </a:t>
            </a:r>
            <a:r>
              <a:rPr lang="en-US" sz="1600" dirty="0" err="1">
                <a:solidFill>
                  <a:srgbClr val="0F5963"/>
                </a:solidFill>
                <a:latin typeface="Montserrat" panose="00000500000000000000" pitchFamily="2" charset="0"/>
              </a:rPr>
              <a:t>bad_loans</a:t>
            </a:r>
            <a:endParaRPr lang="en-US" sz="16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FROM </a:t>
            </a:r>
            <a:r>
              <a:rPr lang="en-US" sz="1600" dirty="0" err="1">
                <a:solidFill>
                  <a:srgbClr val="0F5963"/>
                </a:solidFill>
                <a:latin typeface="Montserrat" panose="00000500000000000000" pitchFamily="2" charset="0"/>
              </a:rPr>
              <a:t>loans_cleaned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;</a:t>
            </a:r>
          </a:p>
          <a:p>
            <a:endParaRPr lang="en-US" sz="1600" dirty="0">
              <a:latin typeface="Montserrat" panose="00000500000000000000" pitchFamily="2" charset="0"/>
            </a:endParaRPr>
          </a:p>
          <a:p>
            <a:r>
              <a:rPr lang="en-US" sz="1600" b="1" dirty="0">
                <a:solidFill>
                  <a:srgbClr val="C00000"/>
                </a:solidFill>
                <a:latin typeface="Montserrat" panose="00000500000000000000" pitchFamily="2" charset="0"/>
              </a:rPr>
              <a:t>2. Good vs Bad Loan Percentage:</a:t>
            </a:r>
          </a:p>
          <a:p>
            <a:endParaRPr lang="en-US" sz="1600" b="1" dirty="0">
              <a:solidFill>
                <a:srgbClr val="C00000"/>
              </a:solidFill>
              <a:latin typeface="Montserrat" panose="00000500000000000000" pitchFamily="2" charset="0"/>
            </a:endParaRPr>
          </a:p>
          <a:p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SELECT </a:t>
            </a:r>
          </a:p>
          <a:p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  </a:t>
            </a:r>
            <a:r>
              <a:rPr lang="en-US" sz="1600" dirty="0" err="1">
                <a:solidFill>
                  <a:srgbClr val="0F5963"/>
                </a:solidFill>
                <a:latin typeface="Montserrat" panose="00000500000000000000" pitchFamily="2" charset="0"/>
              </a:rPr>
              <a:t>loan_status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,</a:t>
            </a:r>
          </a:p>
          <a:p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  ROUND(100 * COUNT(*) / (SELECT COUNT(*) FROM </a:t>
            </a:r>
            <a:r>
              <a:rPr lang="en-US" sz="1600" dirty="0" err="1">
                <a:solidFill>
                  <a:srgbClr val="0F5963"/>
                </a:solidFill>
                <a:latin typeface="Montserrat" panose="00000500000000000000" pitchFamily="2" charset="0"/>
              </a:rPr>
              <a:t>loans_clean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), 2) AS percent</a:t>
            </a:r>
          </a:p>
          <a:p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FROM </a:t>
            </a:r>
            <a:r>
              <a:rPr lang="en-US" sz="1600" dirty="0" err="1">
                <a:solidFill>
                  <a:srgbClr val="0F5963"/>
                </a:solidFill>
                <a:latin typeface="Montserrat" panose="00000500000000000000" pitchFamily="2" charset="0"/>
              </a:rPr>
              <a:t>loans_cleaned</a:t>
            </a:r>
            <a:endParaRPr lang="en-US" sz="16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GROUP BY </a:t>
            </a:r>
            <a:r>
              <a:rPr lang="en-US" sz="1600" dirty="0" err="1">
                <a:solidFill>
                  <a:srgbClr val="0F5963"/>
                </a:solidFill>
                <a:latin typeface="Montserrat" panose="00000500000000000000" pitchFamily="2" charset="0"/>
              </a:rPr>
              <a:t>loan_status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;</a:t>
            </a:r>
          </a:p>
          <a:p>
            <a:endParaRPr lang="en-US" sz="1600" dirty="0"/>
          </a:p>
          <a:p>
            <a:pPr marL="342900" indent="-342900">
              <a:buAutoNum type="arabicPeriod"/>
            </a:pPr>
            <a:endParaRPr lang="en-US" sz="1600" dirty="0"/>
          </a:p>
          <a:p>
            <a:endParaRPr lang="en-US" sz="1600" dirty="0"/>
          </a:p>
          <a:p>
            <a:endParaRPr lang="en-US" sz="16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endParaRPr lang="en-US" sz="1600" dirty="0">
              <a:solidFill>
                <a:srgbClr val="0F5963"/>
              </a:solidFill>
              <a:latin typeface="Montserrat" panose="00000500000000000000" pitchFamily="2" charset="0"/>
            </a:endParaRPr>
          </a:p>
        </p:txBody>
      </p:sp>
      <p:pic>
        <p:nvPicPr>
          <p:cNvPr id="6" name="Picture 14" descr="SQL icon in Windows 11 Color Style">
            <a:extLst>
              <a:ext uri="{FF2B5EF4-FFF2-40B4-BE49-F238E27FC236}">
                <a16:creationId xmlns:a16="http://schemas.microsoft.com/office/drawing/2014/main" id="{18EC81BD-0C64-4A00-8C26-7844A390C67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387" y="548336"/>
            <a:ext cx="868680" cy="868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5487586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8DC749-B83B-4825-8E59-E41BAE25CF1E}"/>
              </a:ext>
            </a:extLst>
          </p:cNvPr>
          <p:cNvSpPr/>
          <p:nvPr/>
        </p:nvSpPr>
        <p:spPr>
          <a:xfrm>
            <a:off x="340627" y="455596"/>
            <a:ext cx="11652986" cy="6246796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5401B907-336C-467F-9968-B44395FCA4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76962" y="572635"/>
            <a:ext cx="10789920" cy="738497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C0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SQL Analysis &amp; KPIs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D509C2-10E7-41A1-AE27-5862EB2013DD}"/>
              </a:ext>
            </a:extLst>
          </p:cNvPr>
          <p:cNvSpPr txBox="1"/>
          <p:nvPr/>
        </p:nvSpPr>
        <p:spPr>
          <a:xfrm>
            <a:off x="548639" y="1509757"/>
            <a:ext cx="11302733" cy="523220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C00000"/>
                </a:solidFill>
                <a:latin typeface="Montserrat" panose="00000500000000000000" pitchFamily="2" charset="0"/>
              </a:rPr>
              <a:t>3. Grade-wise Risk:</a:t>
            </a:r>
          </a:p>
          <a:p>
            <a:endParaRPr lang="en-US" sz="1600" b="1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SELECT </a:t>
            </a:r>
          </a:p>
          <a:p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  grade,</a:t>
            </a:r>
          </a:p>
          <a:p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  SUM(CASE WHEN </a:t>
            </a:r>
            <a:r>
              <a:rPr lang="en-US" sz="1600" dirty="0" err="1">
                <a:solidFill>
                  <a:srgbClr val="0F5963"/>
                </a:solidFill>
                <a:latin typeface="Montserrat" panose="00000500000000000000" pitchFamily="2" charset="0"/>
              </a:rPr>
              <a:t>loan_status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='Bad' THEN 1 END) AS </a:t>
            </a:r>
            <a:r>
              <a:rPr lang="en-US" sz="1600" dirty="0" err="1">
                <a:solidFill>
                  <a:srgbClr val="0F5963"/>
                </a:solidFill>
                <a:latin typeface="Montserrat" panose="00000500000000000000" pitchFamily="2" charset="0"/>
              </a:rPr>
              <a:t>bad_loans</a:t>
            </a:r>
            <a:endParaRPr lang="en-US" sz="16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FROM </a:t>
            </a:r>
            <a:r>
              <a:rPr lang="en-US" sz="1600" dirty="0" err="1">
                <a:solidFill>
                  <a:srgbClr val="0F5963"/>
                </a:solidFill>
                <a:latin typeface="Montserrat" panose="00000500000000000000" pitchFamily="2" charset="0"/>
              </a:rPr>
              <a:t>loans_cleaned</a:t>
            </a:r>
            <a:endParaRPr lang="en-US" sz="16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GROUP BY grade;</a:t>
            </a:r>
          </a:p>
          <a:p>
            <a:endParaRPr lang="en-US" sz="1400" dirty="0">
              <a:latin typeface="Montserrat" panose="00000500000000000000" pitchFamily="2" charset="0"/>
            </a:endParaRPr>
          </a:p>
          <a:p>
            <a:r>
              <a:rPr lang="en-US" sz="1600" b="1" dirty="0">
                <a:solidFill>
                  <a:srgbClr val="C00000"/>
                </a:solidFill>
                <a:latin typeface="Montserrat" panose="00000500000000000000" pitchFamily="2" charset="0"/>
              </a:rPr>
              <a:t>4. Interest Rate Trend Using Window Function:</a:t>
            </a:r>
          </a:p>
          <a:p>
            <a:endParaRPr lang="en-US" sz="1600" b="1" dirty="0">
              <a:solidFill>
                <a:srgbClr val="C00000"/>
              </a:solidFill>
              <a:latin typeface="Montserrat" panose="00000500000000000000" pitchFamily="2" charset="0"/>
            </a:endParaRPr>
          </a:p>
          <a:p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SELECT </a:t>
            </a:r>
          </a:p>
          <a:p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    </a:t>
            </a:r>
            <a:r>
              <a:rPr lang="en-US" sz="1600" dirty="0" err="1">
                <a:solidFill>
                  <a:srgbClr val="0F5963"/>
                </a:solidFill>
                <a:latin typeface="Montserrat" panose="00000500000000000000" pitchFamily="2" charset="0"/>
              </a:rPr>
              <a:t>issue_date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,</a:t>
            </a:r>
          </a:p>
          <a:p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    COUNT(*) AS </a:t>
            </a:r>
            <a:r>
              <a:rPr lang="en-US" sz="1600" dirty="0" err="1">
                <a:solidFill>
                  <a:srgbClr val="0F5963"/>
                </a:solidFill>
                <a:latin typeface="Montserrat" panose="00000500000000000000" pitchFamily="2" charset="0"/>
              </a:rPr>
              <a:t>loans_issued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,</a:t>
            </a:r>
          </a:p>
          <a:p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    SUM(COUNT(*)) OVER (ORDER BY </a:t>
            </a:r>
            <a:r>
              <a:rPr lang="en-US" sz="1600" dirty="0" err="1">
                <a:solidFill>
                  <a:srgbClr val="0F5963"/>
                </a:solidFill>
                <a:latin typeface="Montserrat" panose="00000500000000000000" pitchFamily="2" charset="0"/>
              </a:rPr>
              <a:t>issue_date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) AS </a:t>
            </a:r>
            <a:r>
              <a:rPr lang="en-US" sz="1600" dirty="0" err="1">
                <a:solidFill>
                  <a:srgbClr val="0F5963"/>
                </a:solidFill>
                <a:latin typeface="Montserrat" panose="00000500000000000000" pitchFamily="2" charset="0"/>
              </a:rPr>
              <a:t>cumulative_loans</a:t>
            </a:r>
            <a:endParaRPr lang="en-US" sz="16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FROM </a:t>
            </a:r>
            <a:r>
              <a:rPr lang="en-US" sz="1600" dirty="0" err="1">
                <a:solidFill>
                  <a:srgbClr val="0F5963"/>
                </a:solidFill>
                <a:latin typeface="Montserrat" panose="00000500000000000000" pitchFamily="2" charset="0"/>
              </a:rPr>
              <a:t>loans_clean</a:t>
            </a:r>
            <a:endParaRPr lang="en-US" sz="16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GROUP BY </a:t>
            </a:r>
            <a:r>
              <a:rPr lang="en-US" sz="1600" dirty="0" err="1">
                <a:solidFill>
                  <a:srgbClr val="0F5963"/>
                </a:solidFill>
                <a:latin typeface="Montserrat" panose="00000500000000000000" pitchFamily="2" charset="0"/>
              </a:rPr>
              <a:t>issue_date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;</a:t>
            </a:r>
          </a:p>
          <a:p>
            <a:endParaRPr lang="en-US" sz="1600" dirty="0"/>
          </a:p>
          <a:p>
            <a:pPr marL="342900" indent="-342900">
              <a:buAutoNum type="arabicPeriod"/>
            </a:pPr>
            <a:endParaRPr lang="en-US" sz="1600" dirty="0"/>
          </a:p>
          <a:p>
            <a:endParaRPr lang="en-US" sz="1600" dirty="0"/>
          </a:p>
          <a:p>
            <a:endParaRPr lang="en-US" sz="16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endParaRPr lang="en-US" sz="1600" dirty="0">
              <a:solidFill>
                <a:srgbClr val="0F5963"/>
              </a:solidFill>
              <a:latin typeface="Montserrat" panose="00000500000000000000" pitchFamily="2" charset="0"/>
            </a:endParaRPr>
          </a:p>
        </p:txBody>
      </p:sp>
      <p:pic>
        <p:nvPicPr>
          <p:cNvPr id="5" name="Picture 10">
            <a:extLst>
              <a:ext uri="{FF2B5EF4-FFF2-40B4-BE49-F238E27FC236}">
                <a16:creationId xmlns:a16="http://schemas.microsoft.com/office/drawing/2014/main" id="{A0AD8E99-E852-443A-B5AA-67A33B17F3D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282" y="548336"/>
            <a:ext cx="868680" cy="868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94285149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8DC749-B83B-4825-8E59-E41BAE25CF1E}"/>
              </a:ext>
            </a:extLst>
          </p:cNvPr>
          <p:cNvSpPr/>
          <p:nvPr/>
        </p:nvSpPr>
        <p:spPr>
          <a:xfrm>
            <a:off x="340627" y="455596"/>
            <a:ext cx="11652986" cy="6246796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5401B907-336C-467F-9968-B44395FCA4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76962" y="572635"/>
            <a:ext cx="10789920" cy="738497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C0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SQL Analysis &amp; KPIs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D509C2-10E7-41A1-AE27-5862EB2013DD}"/>
              </a:ext>
            </a:extLst>
          </p:cNvPr>
          <p:cNvSpPr txBox="1"/>
          <p:nvPr/>
        </p:nvSpPr>
        <p:spPr>
          <a:xfrm>
            <a:off x="548639" y="1509757"/>
            <a:ext cx="11302733" cy="467820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sz="1800" dirty="0">
              <a:latin typeface="Montserrat" panose="00000500000000000000" pitchFamily="2" charset="0"/>
            </a:endParaRPr>
          </a:p>
          <a:p>
            <a:r>
              <a:rPr lang="en-US" sz="1600" b="1" dirty="0">
                <a:solidFill>
                  <a:srgbClr val="CC0000"/>
                </a:solidFill>
                <a:latin typeface="Montserrat" panose="00000500000000000000" pitchFamily="2" charset="0"/>
              </a:rPr>
              <a:t>5. CTE for High-Risk Segments:</a:t>
            </a:r>
          </a:p>
          <a:p>
            <a:endParaRPr lang="en-US" sz="1600" b="1" dirty="0">
              <a:solidFill>
                <a:srgbClr val="CC0000"/>
              </a:solidFill>
              <a:latin typeface="Montserrat" panose="00000500000000000000" pitchFamily="2" charset="0"/>
            </a:endParaRPr>
          </a:p>
          <a:p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WITH risky AS (</a:t>
            </a:r>
          </a:p>
          <a:p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  SELECT *</a:t>
            </a:r>
          </a:p>
          <a:p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  FROM </a:t>
            </a:r>
            <a:r>
              <a:rPr lang="en-US" sz="1600" dirty="0" err="1">
                <a:solidFill>
                  <a:srgbClr val="0F5963"/>
                </a:solidFill>
                <a:latin typeface="Montserrat" panose="00000500000000000000" pitchFamily="2" charset="0"/>
              </a:rPr>
              <a:t>loans_clean</a:t>
            </a:r>
            <a:endParaRPr lang="en-US" sz="16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  WHERE </a:t>
            </a:r>
            <a:r>
              <a:rPr lang="en-US" sz="1600" dirty="0" err="1">
                <a:solidFill>
                  <a:srgbClr val="0F5963"/>
                </a:solidFill>
                <a:latin typeface="Montserrat" panose="00000500000000000000" pitchFamily="2" charset="0"/>
              </a:rPr>
              <a:t>dti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 &gt; 20 AND </a:t>
            </a:r>
            <a:r>
              <a:rPr lang="en-US" sz="1600" dirty="0" err="1">
                <a:solidFill>
                  <a:srgbClr val="0F5963"/>
                </a:solidFill>
                <a:latin typeface="Montserrat" panose="00000500000000000000" pitchFamily="2" charset="0"/>
              </a:rPr>
              <a:t>interest_rate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 &gt; 15</a:t>
            </a:r>
          </a:p>
          <a:p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)</a:t>
            </a:r>
          </a:p>
          <a:p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SELECT COUNT(*) AS </a:t>
            </a:r>
            <a:r>
              <a:rPr lang="en-US" sz="1600" dirty="0" err="1">
                <a:solidFill>
                  <a:srgbClr val="0F5963"/>
                </a:solidFill>
                <a:latin typeface="Montserrat" panose="00000500000000000000" pitchFamily="2" charset="0"/>
              </a:rPr>
              <a:t>high_risk_borrowers</a:t>
            </a:r>
            <a:endParaRPr lang="en-US" sz="16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FROM risky;</a:t>
            </a:r>
          </a:p>
          <a:p>
            <a:endParaRPr lang="en-US" sz="16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r>
              <a:rPr lang="en-US" sz="2000" b="1" dirty="0">
                <a:solidFill>
                  <a:srgbClr val="0F5963"/>
                </a:solidFill>
                <a:latin typeface="Montserrat" panose="00000500000000000000" pitchFamily="2" charset="0"/>
              </a:rPr>
              <a:t>“The cleaned SQL table served as the data source for Power BI, enabling real-time updates, dynamic filtering, and smooth KPI dashboards.”</a:t>
            </a:r>
          </a:p>
          <a:p>
            <a:endParaRPr lang="en-US" sz="1600" dirty="0"/>
          </a:p>
          <a:p>
            <a:pPr marL="342900" indent="-342900">
              <a:buAutoNum type="arabicPeriod"/>
            </a:pPr>
            <a:endParaRPr lang="en-US" sz="1600" dirty="0"/>
          </a:p>
          <a:p>
            <a:endParaRPr lang="en-US" sz="1600" dirty="0"/>
          </a:p>
          <a:p>
            <a:endParaRPr lang="en-US" sz="16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endParaRPr lang="en-US" sz="1600" dirty="0">
              <a:solidFill>
                <a:srgbClr val="0F5963"/>
              </a:solidFill>
              <a:latin typeface="Montserrat" panose="00000500000000000000" pitchFamily="2" charset="0"/>
            </a:endParaRPr>
          </a:p>
        </p:txBody>
      </p:sp>
      <p:pic>
        <p:nvPicPr>
          <p:cNvPr id="6" name="Picture 14" descr="SQL icon in Windows 11 Color Style">
            <a:extLst>
              <a:ext uri="{FF2B5EF4-FFF2-40B4-BE49-F238E27FC236}">
                <a16:creationId xmlns:a16="http://schemas.microsoft.com/office/drawing/2014/main" id="{EDFAE67A-503E-47E4-9EE5-F596B8271C1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6387" y="541765"/>
            <a:ext cx="868680" cy="86868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47524363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8DC749-B83B-4825-8E59-E41BAE25CF1E}"/>
              </a:ext>
            </a:extLst>
          </p:cNvPr>
          <p:cNvSpPr/>
          <p:nvPr/>
        </p:nvSpPr>
        <p:spPr>
          <a:xfrm>
            <a:off x="340627" y="455596"/>
            <a:ext cx="11652986" cy="6246796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5401B907-336C-467F-9968-B44395FCA4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30960" y="483572"/>
            <a:ext cx="9144000" cy="738497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CC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Visual Insights from Dashboards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4ED139B9-0116-4674-9017-35E35C8B714B}"/>
              </a:ext>
            </a:extLst>
          </p:cNvPr>
          <p:cNvSpPr txBox="1"/>
          <p:nvPr/>
        </p:nvSpPr>
        <p:spPr>
          <a:xfrm>
            <a:off x="9083040" y="924560"/>
            <a:ext cx="256032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44" name="Rectangle 12">
            <a:extLst>
              <a:ext uri="{FF2B5EF4-FFF2-40B4-BE49-F238E27FC236}">
                <a16:creationId xmlns:a16="http://schemas.microsoft.com/office/drawing/2014/main" id="{D451315E-7F17-4B18-9E8E-E5C105609B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6481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8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48" name="Picture 47">
            <a:extLst>
              <a:ext uri="{FF2B5EF4-FFF2-40B4-BE49-F238E27FC236}">
                <a16:creationId xmlns:a16="http://schemas.microsoft.com/office/drawing/2014/main" id="{FAD14926-B590-46BD-B8A7-51F99ADE37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7720" y="1293892"/>
            <a:ext cx="10718800" cy="5135368"/>
          </a:xfrm>
          <a:prstGeom prst="rect">
            <a:avLst/>
          </a:prstGeom>
        </p:spPr>
      </p:pic>
      <p:pic>
        <p:nvPicPr>
          <p:cNvPr id="7" name="Picture 16">
            <a:extLst>
              <a:ext uri="{FF2B5EF4-FFF2-40B4-BE49-F238E27FC236}">
                <a16:creationId xmlns:a16="http://schemas.microsoft.com/office/drawing/2014/main" id="{CE6ACC1B-CA6D-49DD-9502-1D30575CC19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267" y="543599"/>
            <a:ext cx="662291" cy="662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688960412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8DC749-B83B-4825-8E59-E41BAE25CF1E}"/>
              </a:ext>
            </a:extLst>
          </p:cNvPr>
          <p:cNvSpPr/>
          <p:nvPr/>
        </p:nvSpPr>
        <p:spPr>
          <a:xfrm>
            <a:off x="340627" y="455596"/>
            <a:ext cx="11652986" cy="6246796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5401B907-336C-467F-9968-B44395FCA4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2080" y="589280"/>
            <a:ext cx="10789920" cy="738497"/>
          </a:xfrm>
        </p:spPr>
        <p:txBody>
          <a:bodyPr>
            <a:normAutofit fontScale="90000"/>
          </a:bodyPr>
          <a:lstStyle/>
          <a:p>
            <a:pPr algn="l"/>
            <a:r>
              <a:rPr lang="en-US" sz="4000" dirty="0">
                <a:solidFill>
                  <a:srgbClr val="CC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Visual Insights from Dashboards (Continued)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268BBC-E025-4D76-9CEB-6E03BF84B8B3}"/>
              </a:ext>
            </a:extLst>
          </p:cNvPr>
          <p:cNvSpPr txBox="1"/>
          <p:nvPr/>
        </p:nvSpPr>
        <p:spPr>
          <a:xfrm>
            <a:off x="629920" y="1461461"/>
            <a:ext cx="1103376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rgbClr val="0F5963"/>
                </a:solidFill>
                <a:latin typeface="Montserrat" panose="00000500000000000000" pitchFamily="2" charset="0"/>
              </a:rPr>
              <a:t>Insights from Summary Dashboard</a:t>
            </a:r>
          </a:p>
          <a:p>
            <a:endParaRPr lang="en-US" b="1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r>
              <a:rPr lang="en-US" b="1" dirty="0">
                <a:solidFill>
                  <a:srgbClr val="0F5963"/>
                </a:solidFill>
                <a:latin typeface="Montserrat" panose="00000500000000000000" pitchFamily="2" charset="0"/>
              </a:rPr>
              <a:t>1. High Loan Success Rate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F5963"/>
                </a:solidFill>
                <a:latin typeface="Montserrat" panose="00000500000000000000" pitchFamily="2" charset="0"/>
              </a:rPr>
              <a:t>86.18% of all loans issued are Good Loans</a:t>
            </a:r>
            <a:r>
              <a:rPr lang="en-US" dirty="0">
                <a:solidFill>
                  <a:srgbClr val="0F5963"/>
                </a:solidFill>
                <a:latin typeface="Montserrat" panose="00000500000000000000" pitchFamily="2" charset="0"/>
              </a:rPr>
              <a:t>, indicating strong repayment behavior.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r>
              <a:rPr lang="en-US" b="1" dirty="0">
                <a:solidFill>
                  <a:srgbClr val="0F5963"/>
                </a:solidFill>
                <a:latin typeface="Montserrat" panose="00000500000000000000" pitchFamily="2" charset="0"/>
              </a:rPr>
              <a:t>2. Default Level is Moderate but Significant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b="1" dirty="0">
                <a:solidFill>
                  <a:srgbClr val="0F5963"/>
                </a:solidFill>
                <a:latin typeface="Montserrat" panose="00000500000000000000" pitchFamily="2" charset="0"/>
              </a:rPr>
              <a:t>13.82% loans are in default</a:t>
            </a:r>
            <a:r>
              <a:rPr lang="en-US" dirty="0">
                <a:solidFill>
                  <a:srgbClr val="0F5963"/>
                </a:solidFill>
                <a:latin typeface="Montserrat" panose="00000500000000000000" pitchFamily="2" charset="0"/>
              </a:rPr>
              <a:t>, resulting in </a:t>
            </a:r>
            <a:r>
              <a:rPr lang="en-US" b="1" dirty="0">
                <a:solidFill>
                  <a:srgbClr val="0F5963"/>
                </a:solidFill>
                <a:latin typeface="Montserrat" panose="00000500000000000000" pitchFamily="2" charset="0"/>
              </a:rPr>
              <a:t>$65.53M</a:t>
            </a:r>
            <a:r>
              <a:rPr lang="en-US" dirty="0">
                <a:solidFill>
                  <a:srgbClr val="0F5963"/>
                </a:solidFill>
                <a:latin typeface="Montserrat" panose="00000500000000000000" pitchFamily="2" charset="0"/>
              </a:rPr>
              <a:t> total defaulted amount.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r>
              <a:rPr lang="en-US" b="1" dirty="0">
                <a:solidFill>
                  <a:srgbClr val="0F5963"/>
                </a:solidFill>
                <a:latin typeface="Montserrat" panose="00000500000000000000" pitchFamily="2" charset="0"/>
              </a:rPr>
              <a:t>3. Good Loans Drive Most of the Revenue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F5963"/>
                </a:solidFill>
                <a:latin typeface="Montserrat" panose="00000500000000000000" pitchFamily="2" charset="0"/>
              </a:rPr>
              <a:t>Good loans recovered </a:t>
            </a:r>
            <a:r>
              <a:rPr lang="en-US" b="1" dirty="0">
                <a:solidFill>
                  <a:srgbClr val="0F5963"/>
                </a:solidFill>
                <a:latin typeface="Montserrat" panose="00000500000000000000" pitchFamily="2" charset="0"/>
              </a:rPr>
              <a:t>$435.79M</a:t>
            </a:r>
            <a:r>
              <a:rPr lang="en-US" dirty="0">
                <a:solidFill>
                  <a:srgbClr val="0F5963"/>
                </a:solidFill>
                <a:latin typeface="Montserrat" panose="00000500000000000000" pitchFamily="2" charset="0"/>
              </a:rPr>
              <a:t>, far higher than other segments.</a:t>
            </a:r>
          </a:p>
          <a:p>
            <a:endParaRPr lang="en-US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r>
              <a:rPr lang="en-US" b="1" dirty="0">
                <a:solidFill>
                  <a:srgbClr val="0F5963"/>
                </a:solidFill>
                <a:latin typeface="Montserrat" panose="00000500000000000000" pitchFamily="2" charset="0"/>
              </a:rPr>
              <a:t>4. Interest Rate Difference Explains Risk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F5963"/>
                </a:solidFill>
                <a:latin typeface="Montserrat" panose="00000500000000000000" pitchFamily="2" charset="0"/>
              </a:rPr>
              <a:t>Charged-off loans have </a:t>
            </a:r>
            <a:r>
              <a:rPr lang="en-US" b="1" dirty="0">
                <a:solidFill>
                  <a:srgbClr val="0F5963"/>
                </a:solidFill>
                <a:latin typeface="Montserrat" panose="00000500000000000000" pitchFamily="2" charset="0"/>
              </a:rPr>
              <a:t>higher interest rates</a:t>
            </a:r>
            <a:r>
              <a:rPr lang="en-US" dirty="0">
                <a:solidFill>
                  <a:srgbClr val="0F5963"/>
                </a:solidFill>
                <a:latin typeface="Montserrat" panose="00000500000000000000" pitchFamily="2" charset="0"/>
              </a:rPr>
              <a:t> (13.88%+) compared to Fully Paid (11.64%).</a:t>
            </a:r>
          </a:p>
          <a:p>
            <a:pPr>
              <a:buFont typeface="Arial" panose="020B0604020202020204" pitchFamily="34" charset="0"/>
              <a:buChar char="•"/>
            </a:pPr>
            <a:endParaRPr lang="en-US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r>
              <a:rPr lang="en-US" b="1" dirty="0">
                <a:solidFill>
                  <a:srgbClr val="0F5963"/>
                </a:solidFill>
                <a:latin typeface="Montserrat" panose="00000500000000000000" pitchFamily="2" charset="0"/>
              </a:rPr>
              <a:t>5. Loan Purpose &amp; Grade Affect Risk Profile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dirty="0">
                <a:solidFill>
                  <a:srgbClr val="0F5963"/>
                </a:solidFill>
                <a:latin typeface="Montserrat" panose="00000500000000000000" pitchFamily="2" charset="0"/>
              </a:rPr>
              <a:t>Filters (Grade &amp; Purpose) allow identifying high-risk segments like </a:t>
            </a:r>
            <a:r>
              <a:rPr lang="en-US" b="1" dirty="0">
                <a:solidFill>
                  <a:srgbClr val="0F5963"/>
                </a:solidFill>
                <a:latin typeface="Montserrat" panose="00000500000000000000" pitchFamily="2" charset="0"/>
              </a:rPr>
              <a:t>lower grades</a:t>
            </a:r>
            <a:r>
              <a:rPr lang="en-US" dirty="0">
                <a:solidFill>
                  <a:srgbClr val="0F5963"/>
                </a:solidFill>
                <a:latin typeface="Montserrat" panose="00000500000000000000" pitchFamily="2" charset="0"/>
              </a:rPr>
              <a:t> and </a:t>
            </a:r>
            <a:r>
              <a:rPr lang="en-US" b="1" dirty="0">
                <a:solidFill>
                  <a:srgbClr val="0F5963"/>
                </a:solidFill>
                <a:latin typeface="Montserrat" panose="00000500000000000000" pitchFamily="2" charset="0"/>
              </a:rPr>
              <a:t>Debt Consolidation</a:t>
            </a:r>
            <a:r>
              <a:rPr lang="en-US" dirty="0">
                <a:solidFill>
                  <a:srgbClr val="0F5963"/>
                </a:solidFill>
                <a:latin typeface="Montserrat" panose="00000500000000000000" pitchFamily="2" charset="0"/>
              </a:rPr>
              <a:t> loans.</a:t>
            </a:r>
          </a:p>
        </p:txBody>
      </p:sp>
      <p:pic>
        <p:nvPicPr>
          <p:cNvPr id="7" name="Picture 16">
            <a:extLst>
              <a:ext uri="{FF2B5EF4-FFF2-40B4-BE49-F238E27FC236}">
                <a16:creationId xmlns:a16="http://schemas.microsoft.com/office/drawing/2014/main" id="{6DCEDAD5-F52C-4432-81AF-5FA92CCA53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789" y="589280"/>
            <a:ext cx="662291" cy="662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61645886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8DC749-B83B-4825-8E59-E41BAE25CF1E}"/>
              </a:ext>
            </a:extLst>
          </p:cNvPr>
          <p:cNvSpPr/>
          <p:nvPr/>
        </p:nvSpPr>
        <p:spPr>
          <a:xfrm>
            <a:off x="340627" y="455596"/>
            <a:ext cx="11652986" cy="6246796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5401B907-336C-467F-9968-B44395FCA4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13840" y="533962"/>
            <a:ext cx="10789920" cy="738497"/>
          </a:xfrm>
        </p:spPr>
        <p:txBody>
          <a:bodyPr>
            <a:normAutofit fontScale="90000"/>
          </a:bodyPr>
          <a:lstStyle/>
          <a:p>
            <a:pPr algn="l"/>
            <a:r>
              <a:rPr lang="en-US" sz="4000" dirty="0">
                <a:solidFill>
                  <a:srgbClr val="CC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Visual Insights from Dashboards (Continued)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D5242DE0-7DCD-4863-8D0D-5A3947070A4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6652" y="1272459"/>
            <a:ext cx="10789920" cy="5129945"/>
          </a:xfrm>
          <a:prstGeom prst="rect">
            <a:avLst/>
          </a:prstGeom>
        </p:spPr>
      </p:pic>
      <p:pic>
        <p:nvPicPr>
          <p:cNvPr id="5" name="Picture 16">
            <a:extLst>
              <a:ext uri="{FF2B5EF4-FFF2-40B4-BE49-F238E27FC236}">
                <a16:creationId xmlns:a16="http://schemas.microsoft.com/office/drawing/2014/main" id="{867A12CC-01E7-4AFB-8701-DA496FC7B2E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62267" y="543599"/>
            <a:ext cx="662291" cy="662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14396424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8DC749-B83B-4825-8E59-E41BAE25CF1E}"/>
              </a:ext>
            </a:extLst>
          </p:cNvPr>
          <p:cNvSpPr/>
          <p:nvPr/>
        </p:nvSpPr>
        <p:spPr>
          <a:xfrm>
            <a:off x="340627" y="455596"/>
            <a:ext cx="11652986" cy="6246796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5401B907-336C-467F-9968-B44395FCA4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402080" y="589280"/>
            <a:ext cx="10789920" cy="738497"/>
          </a:xfrm>
        </p:spPr>
        <p:txBody>
          <a:bodyPr>
            <a:normAutofit fontScale="90000"/>
          </a:bodyPr>
          <a:lstStyle/>
          <a:p>
            <a:pPr algn="l"/>
            <a:r>
              <a:rPr lang="en-US" sz="4000" dirty="0">
                <a:solidFill>
                  <a:srgbClr val="CC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Visual Insights from Dashboards (Continued)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9268BBC-E025-4D76-9CEB-6E03BF84B8B3}"/>
              </a:ext>
            </a:extLst>
          </p:cNvPr>
          <p:cNvSpPr txBox="1"/>
          <p:nvPr/>
        </p:nvSpPr>
        <p:spPr>
          <a:xfrm>
            <a:off x="629920" y="1461461"/>
            <a:ext cx="11135360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Insights from Overview Dashboard</a:t>
            </a:r>
          </a:p>
          <a:p>
            <a:endParaRPr lang="en-US" sz="1600" b="1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1. Default Rate is Gradually Increasing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Monthly trend shows defaults rising from </a:t>
            </a:r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0.3K in Jan to 0.6K in Dec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 → consistent upward risk pattern.</a:t>
            </a:r>
          </a:p>
          <a:p>
            <a:endParaRPr lang="en-US" sz="16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2. State-wise Defaults Vary Significantly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Some states show </a:t>
            </a:r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very high default concentration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, while others remain low → geographic risk differences.</a:t>
            </a:r>
          </a:p>
          <a:p>
            <a:endParaRPr lang="en-US" sz="16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3. Longer Loan Terms Have Higher Default Rates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60-month loans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 default more than </a:t>
            </a:r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36-month loans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 → longer commitments increase risk.</a:t>
            </a:r>
          </a:p>
          <a:p>
            <a:endParaRPr lang="en-US" sz="16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4. Certain Loan Purposes Are High Risk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Highest defaults come from </a:t>
            </a:r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Other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, </a:t>
            </a:r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Small Business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, and </a:t>
            </a:r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Debt Consolidation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 categories.</a:t>
            </a:r>
          </a:p>
          <a:p>
            <a:endParaRPr lang="en-US" sz="16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5. Employment Length Doesn't Guarantee Low Risk</a:t>
            </a:r>
          </a:p>
          <a:p>
            <a:pPr>
              <a:buFont typeface="Arial" panose="020B0604020202020204" pitchFamily="34" charset="0"/>
              <a:buChar char="•"/>
            </a:pP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Even borrowers with </a:t>
            </a:r>
            <a:r>
              <a:rPr lang="en-US" sz="1600" b="1" dirty="0">
                <a:solidFill>
                  <a:srgbClr val="0F5963"/>
                </a:solidFill>
                <a:latin typeface="Montserrat" panose="00000500000000000000" pitchFamily="2" charset="0"/>
              </a:rPr>
              <a:t>10+ years experience</a:t>
            </a:r>
            <a:r>
              <a:rPr lang="en-US" sz="1600" dirty="0">
                <a:solidFill>
                  <a:srgbClr val="0F5963"/>
                </a:solidFill>
                <a:latin typeface="Montserrat" panose="00000500000000000000" pitchFamily="2" charset="0"/>
              </a:rPr>
              <a:t> show high defaults → stability doesn’t always mean safe borrowing.</a:t>
            </a:r>
          </a:p>
          <a:p>
            <a:endParaRPr lang="en-US" dirty="0">
              <a:solidFill>
                <a:srgbClr val="0F5963"/>
              </a:solidFill>
              <a:latin typeface="Montserrat" panose="00000500000000000000" pitchFamily="2" charset="0"/>
            </a:endParaRPr>
          </a:p>
        </p:txBody>
      </p:sp>
      <p:pic>
        <p:nvPicPr>
          <p:cNvPr id="6" name="Picture 16">
            <a:extLst>
              <a:ext uri="{FF2B5EF4-FFF2-40B4-BE49-F238E27FC236}">
                <a16:creationId xmlns:a16="http://schemas.microsoft.com/office/drawing/2014/main" id="{413E0753-F2C8-473C-9B1A-EC65C766F0E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39789" y="589280"/>
            <a:ext cx="662291" cy="66229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88007996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8DC749-B83B-4825-8E59-E41BAE25CF1E}"/>
              </a:ext>
            </a:extLst>
          </p:cNvPr>
          <p:cNvSpPr/>
          <p:nvPr/>
        </p:nvSpPr>
        <p:spPr>
          <a:xfrm>
            <a:off x="340627" y="455596"/>
            <a:ext cx="11652986" cy="6246796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5401B907-336C-467F-9968-B44395FCA4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920" y="642026"/>
            <a:ext cx="10789920" cy="738497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C0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Final Recommendations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3DD509C2-10E7-41A1-AE27-5862EB2013DD}"/>
              </a:ext>
            </a:extLst>
          </p:cNvPr>
          <p:cNvSpPr txBox="1"/>
          <p:nvPr/>
        </p:nvSpPr>
        <p:spPr>
          <a:xfrm>
            <a:off x="548640" y="1566952"/>
            <a:ext cx="11094720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0F5963"/>
                </a:solidFill>
                <a:latin typeface="Montserrat" panose="00000500000000000000" pitchFamily="2" charset="0"/>
              </a:rPr>
              <a:t>Tighten loan approval rules</a:t>
            </a:r>
            <a:r>
              <a:rPr lang="en-US" sz="2000" dirty="0">
                <a:solidFill>
                  <a:srgbClr val="0F5963"/>
                </a:solidFill>
                <a:latin typeface="Montserrat" panose="00000500000000000000" pitchFamily="2" charset="0"/>
              </a:rPr>
              <a:t> for high-risk segments (low grades: E, F, G).</a:t>
            </a:r>
          </a:p>
          <a:p>
            <a:endParaRPr lang="en-US" sz="20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0F5963"/>
                </a:solidFill>
                <a:latin typeface="Montserrat" panose="00000500000000000000" pitchFamily="2" charset="0"/>
              </a:rPr>
              <a:t>Increase interest rates</a:t>
            </a:r>
            <a:r>
              <a:rPr lang="en-US" sz="2000" dirty="0">
                <a:solidFill>
                  <a:srgbClr val="0F5963"/>
                </a:solidFill>
                <a:latin typeface="Montserrat" panose="00000500000000000000" pitchFamily="2" charset="0"/>
              </a:rPr>
              <a:t> or add stricter checks for borrowers with </a:t>
            </a:r>
            <a:r>
              <a:rPr lang="en-US" sz="2000" b="1" dirty="0">
                <a:solidFill>
                  <a:srgbClr val="0F5963"/>
                </a:solidFill>
                <a:latin typeface="Montserrat" panose="00000500000000000000" pitchFamily="2" charset="0"/>
              </a:rPr>
              <a:t>high DTI</a:t>
            </a:r>
            <a:r>
              <a:rPr lang="en-US" sz="2000" dirty="0">
                <a:solidFill>
                  <a:srgbClr val="0F5963"/>
                </a:solidFill>
                <a:latin typeface="Montserrat" panose="00000500000000000000" pitchFamily="2" charset="0"/>
              </a:rPr>
              <a:t> or </a:t>
            </a:r>
            <a:r>
              <a:rPr lang="en-US" sz="2000" b="1" dirty="0">
                <a:solidFill>
                  <a:srgbClr val="0F5963"/>
                </a:solidFill>
                <a:latin typeface="Montserrat" panose="00000500000000000000" pitchFamily="2" charset="0"/>
              </a:rPr>
              <a:t>high loan amounts</a:t>
            </a:r>
            <a:r>
              <a:rPr lang="en-US" sz="2000" dirty="0">
                <a:solidFill>
                  <a:srgbClr val="0F5963"/>
                </a:solidFill>
                <a:latin typeface="Montserrat" panose="00000500000000000000" pitchFamily="2" charset="0"/>
              </a:rPr>
              <a:t>.</a:t>
            </a:r>
          </a:p>
          <a:p>
            <a:endParaRPr lang="en-US" sz="20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0F5963"/>
                </a:solidFill>
                <a:latin typeface="Montserrat" panose="00000500000000000000" pitchFamily="2" charset="0"/>
              </a:rPr>
              <a:t>Strengthen verification</a:t>
            </a:r>
            <a:r>
              <a:rPr lang="en-US" sz="2000" dirty="0">
                <a:solidFill>
                  <a:srgbClr val="0F5963"/>
                </a:solidFill>
                <a:latin typeface="Montserrat" panose="00000500000000000000" pitchFamily="2" charset="0"/>
              </a:rPr>
              <a:t> for high-risk loan purposes (Debt Consolidation, Small Business, Other)</a:t>
            </a:r>
          </a:p>
          <a:p>
            <a:pPr>
              <a:buFont typeface="Arial" panose="020B0604020202020204" pitchFamily="34" charset="0"/>
              <a:buChar char="•"/>
            </a:pPr>
            <a:endParaRPr lang="en-US" sz="20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0F5963"/>
                </a:solidFill>
                <a:latin typeface="Montserrat" panose="00000500000000000000" pitchFamily="2" charset="0"/>
              </a:rPr>
              <a:t>Promote shorter loan terms</a:t>
            </a:r>
            <a:r>
              <a:rPr lang="en-US" sz="2000" dirty="0">
                <a:solidFill>
                  <a:srgbClr val="0F5963"/>
                </a:solidFill>
                <a:latin typeface="Montserrat" panose="00000500000000000000" pitchFamily="2" charset="0"/>
              </a:rPr>
              <a:t> (36-month) to reduce default probability.</a:t>
            </a:r>
          </a:p>
          <a:p>
            <a:endParaRPr lang="en-US" sz="2000" dirty="0">
              <a:solidFill>
                <a:srgbClr val="0F5963"/>
              </a:solidFill>
              <a:latin typeface="Montserrat" panose="00000500000000000000" pitchFamily="2" charset="0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000" b="1" dirty="0">
                <a:solidFill>
                  <a:srgbClr val="0F5963"/>
                </a:solidFill>
                <a:latin typeface="Montserrat" panose="00000500000000000000" pitchFamily="2" charset="0"/>
              </a:rPr>
              <a:t>Use automated alerts</a:t>
            </a:r>
            <a:r>
              <a:rPr lang="en-US" sz="2000" dirty="0">
                <a:solidFill>
                  <a:srgbClr val="0F5963"/>
                </a:solidFill>
                <a:latin typeface="Montserrat" panose="00000500000000000000" pitchFamily="2" charset="0"/>
              </a:rPr>
              <a:t> for risky profiles (high DTI, high interest rate, long loan term).</a:t>
            </a:r>
          </a:p>
          <a:p>
            <a:endParaRPr lang="en-US" sz="1600" dirty="0">
              <a:solidFill>
                <a:srgbClr val="0F5963"/>
              </a:solidFill>
              <a:latin typeface="Montserrat" panose="00000500000000000000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15558926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EA8DC749-B83B-4825-8E59-E41BAE25CF1E}"/>
              </a:ext>
            </a:extLst>
          </p:cNvPr>
          <p:cNvSpPr/>
          <p:nvPr/>
        </p:nvSpPr>
        <p:spPr>
          <a:xfrm>
            <a:off x="340627" y="455596"/>
            <a:ext cx="11652986" cy="6246796"/>
          </a:xfrm>
          <a:prstGeom prst="rect">
            <a:avLst/>
          </a:prstGeom>
          <a:noFill/>
          <a:ln w="4445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Title 7">
            <a:extLst>
              <a:ext uri="{FF2B5EF4-FFF2-40B4-BE49-F238E27FC236}">
                <a16:creationId xmlns:a16="http://schemas.microsoft.com/office/drawing/2014/main" id="{5401B907-336C-467F-9968-B44395FCA4A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63073" y="579120"/>
            <a:ext cx="10789920" cy="738497"/>
          </a:xfrm>
        </p:spPr>
        <p:txBody>
          <a:bodyPr>
            <a:normAutofit/>
          </a:bodyPr>
          <a:lstStyle/>
          <a:p>
            <a:pPr algn="l"/>
            <a:r>
              <a:rPr lang="en-US" sz="3600" dirty="0">
                <a:solidFill>
                  <a:srgbClr val="C00000"/>
                </a:solidFill>
                <a:latin typeface="Amazon Ember Display Heavy" panose="020F0803020204020204" pitchFamily="34" charset="0"/>
                <a:ea typeface="Amazon Ember Display Heavy" panose="020F0803020204020204" pitchFamily="34" charset="0"/>
                <a:cs typeface="Amazon Ember Display Heavy" panose="020F0803020204020204" pitchFamily="34" charset="0"/>
              </a:rPr>
              <a:t>Conclusion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C5E4485-2BD9-4379-ACC2-B4CB9EFA7089}"/>
              </a:ext>
            </a:extLst>
          </p:cNvPr>
          <p:cNvSpPr txBox="1"/>
          <p:nvPr/>
        </p:nvSpPr>
        <p:spPr>
          <a:xfrm>
            <a:off x="5638800" y="2971800"/>
            <a:ext cx="914400" cy="91440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n-US" dirty="0"/>
          </a:p>
        </p:txBody>
      </p:sp>
      <p:sp>
        <p:nvSpPr>
          <p:cNvPr id="6" name="Rectangle 2">
            <a:extLst>
              <a:ext uri="{FF2B5EF4-FFF2-40B4-BE49-F238E27FC236}">
                <a16:creationId xmlns:a16="http://schemas.microsoft.com/office/drawing/2014/main" id="{B22CC620-8123-432A-BF9F-7A12585D6AAF}"/>
              </a:ext>
            </a:extLst>
          </p:cNvPr>
          <p:cNvSpPr>
            <a:spLocks noChangeArrowheads="1"/>
          </p:cNvSpPr>
          <p:nvPr/>
        </p:nvSpPr>
        <p:spPr bwMode="auto">
          <a:xfrm>
            <a:off x="663073" y="1690064"/>
            <a:ext cx="10865853" cy="347787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This project analyzed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loan applications, borrower profiles, and repayment behavior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 using Python and Power BI.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F5963"/>
              </a:solidFill>
              <a:effectLst/>
              <a:latin typeface="Montserrat" panose="00000500000000000000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Clear patterns emerged: higher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DTI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, higher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interest rates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, lower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grades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, and certain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loan purposes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 increase default risk.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F5963"/>
              </a:solidFill>
              <a:effectLst/>
              <a:latin typeface="Montserrat" panose="00000500000000000000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Insights help the business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improve approval policies, identify high-risk customers, and reduce default losses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rgbClr val="0F5963"/>
              </a:solidFill>
              <a:effectLst/>
              <a:latin typeface="Montserrat" panose="00000500000000000000" pitchFamily="2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Overall, the analysis supports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smarter credit decisions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 and better </a:t>
            </a:r>
            <a:r>
              <a:rPr kumimoji="0" lang="en-US" altLang="en-US" sz="2000" b="1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portfolio risk management</a:t>
            </a: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rgbClr val="0F5963"/>
                </a:solidFill>
                <a:effectLst/>
                <a:latin typeface="Montserrat" panose="00000500000000000000" pitchFamily="2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23244047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668</TotalTime>
  <Words>1942</Words>
  <Application>Microsoft Office PowerPoint</Application>
  <PresentationFormat>Widescreen</PresentationFormat>
  <Paragraphs>301</Paragraphs>
  <Slides>27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27</vt:i4>
      </vt:variant>
    </vt:vector>
  </HeadingPairs>
  <TitlesOfParts>
    <vt:vector size="34" baseType="lpstr">
      <vt:lpstr>Amazon Ember Display Heavy</vt:lpstr>
      <vt:lpstr>Arial</vt:lpstr>
      <vt:lpstr>Calibri</vt:lpstr>
      <vt:lpstr>Calibri Light</vt:lpstr>
      <vt:lpstr>Cascadia Code SemiBold</vt:lpstr>
      <vt:lpstr>Montserrat</vt:lpstr>
      <vt:lpstr>Office Theme</vt:lpstr>
      <vt:lpstr>Loan Analysis &amp; Insights for Risk Identification</vt:lpstr>
      <vt:lpstr>End-to-End Data Analysis Workflow  (Excel → Python → SQL → Power BI)</vt:lpstr>
      <vt:lpstr>Problem Statement</vt:lpstr>
      <vt:lpstr>Excel – Initial Data Understanding</vt:lpstr>
      <vt:lpstr>Excel – Initial Data Understanding</vt:lpstr>
      <vt:lpstr>Data Summary</vt:lpstr>
      <vt:lpstr>Data Cleaning &amp; Preparation</vt:lpstr>
      <vt:lpstr>Dependent Variable</vt:lpstr>
      <vt:lpstr>Exploratory Data Analysis (EDA)</vt:lpstr>
      <vt:lpstr>Exploratory Data Analysis (Continued)</vt:lpstr>
      <vt:lpstr>Exploratory Data Analysis (Continued)</vt:lpstr>
      <vt:lpstr>Exploratory Data Analysis (Continued)</vt:lpstr>
      <vt:lpstr>Exploratory Data Analysis (Continued)</vt:lpstr>
      <vt:lpstr>Exploratory Data Analysis (Continued)</vt:lpstr>
      <vt:lpstr>  Key Insights from EDA </vt:lpstr>
      <vt:lpstr>  Key Insights from EDA  </vt:lpstr>
      <vt:lpstr>Feature Engineering</vt:lpstr>
      <vt:lpstr>SQL Data Storage &amp; Querying</vt:lpstr>
      <vt:lpstr>SQL Analysis &amp; KPIs</vt:lpstr>
      <vt:lpstr>SQL Analysis &amp; KPIs</vt:lpstr>
      <vt:lpstr>SQL Analysis &amp; KPIs</vt:lpstr>
      <vt:lpstr>Visual Insights from Dashboards</vt:lpstr>
      <vt:lpstr>Visual Insights from Dashboards (Continued)</vt:lpstr>
      <vt:lpstr>Visual Insights from Dashboards (Continued)</vt:lpstr>
      <vt:lpstr>Visual Insights from Dashboards (Continued)</vt:lpstr>
      <vt:lpstr>Final Recommendations</vt:lpstr>
      <vt:lpstr>Conclusion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SANDEEP KUMAR</dc:creator>
  <cp:lastModifiedBy>SANDEEP KUMAR</cp:lastModifiedBy>
  <cp:revision>43</cp:revision>
  <dcterms:created xsi:type="dcterms:W3CDTF">2025-11-28T04:27:58Z</dcterms:created>
  <dcterms:modified xsi:type="dcterms:W3CDTF">2025-12-07T13:45:20Z</dcterms:modified>
</cp:coreProperties>
</file>