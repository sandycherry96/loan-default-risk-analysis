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8" r:id="rId3"/>
    <p:sldId id="256" r:id="rId4"/>
    <p:sldId id="279" r:id="rId5"/>
    <p:sldId id="280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5" r:id="rId18"/>
    <p:sldId id="271" r:id="rId19"/>
    <p:sldId id="272" r:id="rId20"/>
    <p:sldId id="273" r:id="rId21"/>
    <p:sldId id="274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5963"/>
    <a:srgbClr val="CC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2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CAB3-2AC2-4D41-92B7-A47CBEE4F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0391B-7546-4530-83B9-D2C41D1B1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15C87-F59D-4BE5-80A7-C53AAEFD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FA2A-71DA-4BFE-BFEF-8F949E00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2C7CB-E317-48B7-8EDB-FC3A7C3B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8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6BA1-61DD-487F-AA69-76564607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93CCB-3D18-42C8-890B-48A1F0617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5288-9F7A-4756-BA79-B1052247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5E45F-5CB3-440E-883B-F6E2DC27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F56D-B232-4ECC-AF50-5808BDB8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2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A556-2F73-4A21-A79D-14F04F30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7B187-8C75-4F36-9B33-6F4A7412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0A639-1FFF-4B36-B6F5-F7BAD668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7A054-79FA-45E5-B293-74002334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2DF69-A758-4AF8-9C5F-006668DB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8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8847-BD7F-428D-93D6-F0EEC416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299A-E2FA-4B9B-9682-8F11A46D5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D8779-FB13-45D8-B7A8-A61F25B65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B1EF1-115C-4DBF-B6A6-97C62C06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3B583-0446-4CE5-8E36-553A55DC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47C39-AFB4-4A8F-8134-9D42CD87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0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5003-8819-432C-A8F8-FF0B72C25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5EC87-F07F-41D6-B3B4-008603CCE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96DBC-AEFA-4848-AB09-0732A4EE6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B8B1D-4673-4EB8-8B3E-9CEDAF29D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B63EA-A9B0-47BC-A1CB-B66F5BBEA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D9CDF-2B4C-42CA-8A93-8A5941DF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0BB47-F5C1-46E6-BBC4-7413D220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87E21-EA34-4939-B029-48229040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63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6988-C81F-4AB6-B403-27582F9F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FB3F4-6B18-4C51-B1CF-9C0A289C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D799D-C477-4228-9F8B-DFB793EF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83CD2-AC68-4B02-B95C-EB56A0114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3BDC0-EBC6-4466-AB3D-78A6F6A4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2C9BB-7BC1-4302-AD8D-DE9E323E5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E3320-01C6-4A5E-A82C-6A6CF7DA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7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B2CB-15C6-49A8-81D5-152DF4CF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01A45-A96A-44AF-8D89-BD748A004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67533-946E-4041-BD54-F83FA35BF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FC167-1C1A-483E-BA53-750E933B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DDDEA-F191-434D-9E92-58CDB164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CF23B-1E89-4938-96EB-F3C5AA6F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1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6B29-E07A-4A6A-B9D0-A5E98AAA9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1C8A1-FF87-4C74-8622-1589F7D5F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7F131-3D21-4CD7-A895-0D338C2E8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646A1-A0EB-4EBB-A71D-41E34894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7A794-1D66-4A67-B0F9-19055A7F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4603E-3989-4FC9-B34E-F4FB1343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5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4D38-888C-4BDC-8795-B0F931B7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906EB-C4B2-47F8-9DF0-8F1533D43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10AF8-A691-4CEE-89DB-3E16BA25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245E-5230-431A-A3A8-F5434748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3BAB2-9948-445C-A6DC-473BB66FD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4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9993F-479D-475D-BCB6-6CB8C681C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2D95D-8A64-4C2D-814B-1B94E0653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C0D88-24DC-4195-B40C-E043C70A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EFEE2-22F1-4187-8DA2-5AC689D4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8BABB-FC41-4EDB-9DD7-8780E258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7935C-A54A-4EDD-9172-94AE5812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9BE60-DF23-4AEA-AAFB-84DF25DFA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6293-0EB9-47C1-BFDC-884FF7C29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56C24-66B3-4808-8C39-E70052D1FD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4638A-8322-4267-B296-C7390AD4A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0808-6AF8-4F76-8DBA-34BCDAB3A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FB81-912C-4AAB-855B-BEDF50B22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1567-243C-4CF8-971F-63B35EBE4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17637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0F5963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Loan Analysis &amp; Insights for Risk Identification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811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>
                <a:solidFill>
                  <a:srgbClr val="0F5963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By - Sandeep Kumar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  <a:p>
            <a:r>
              <a:rPr lang="en-US" sz="2600" b="1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Tools Used</a:t>
            </a:r>
            <a:r>
              <a:rPr lang="en-US" sz="2600" b="1" dirty="0">
                <a:solidFill>
                  <a:schemeClr val="accent5">
                    <a:lumMod val="50000"/>
                  </a:schemeClr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:</a:t>
            </a:r>
            <a:br>
              <a:rPr lang="en-US" sz="2600" b="1" dirty="0">
                <a:solidFill>
                  <a:schemeClr val="accent5">
                    <a:lumMod val="50000"/>
                  </a:schemeClr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</a:br>
            <a:r>
              <a:rPr lang="en-US" sz="2600" b="1" dirty="0">
                <a:solidFill>
                  <a:srgbClr val="0F5963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Python | Pandas | NumPy | Seaborn | SQL | Power BI | Excel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9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icrosoft Excel Logo in SVG ...">
            <a:extLst>
              <a:ext uri="{FF2B5EF4-FFF2-40B4-BE49-F238E27FC236}">
                <a16:creationId xmlns:a16="http://schemas.microsoft.com/office/drawing/2014/main" id="{4647F2E8-9393-47B9-AD51-42C00FEDD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5226"/>
            <a:ext cx="2748197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5D97D792-9B15-4955-9BFC-0EE9C2CB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727" y="1672386"/>
            <a:ext cx="1554480" cy="155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QL icon in Windows 11 Color Style">
            <a:extLst>
              <a:ext uri="{FF2B5EF4-FFF2-40B4-BE49-F238E27FC236}">
                <a16:creationId xmlns:a16="http://schemas.microsoft.com/office/drawing/2014/main" id="{0ED872F3-EDF9-453E-9E06-228B55C80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737" y="1535226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E1A4FD2-72C0-4EE6-9297-CA5BD028F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0066" y="1500444"/>
            <a:ext cx="173736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E056737-AE2D-4A63-9EC4-D7B588D14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6" y="535454"/>
            <a:ext cx="9144000" cy="662006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End-to-End Data Analysis Workflow </a:t>
            </a:r>
            <a:br>
              <a:rPr lang="en-US" sz="28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</a:br>
            <a:r>
              <a:rPr lang="en-US" sz="28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(Excel → </a:t>
            </a:r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Python</a:t>
            </a:r>
            <a:r>
              <a:rPr lang="en-US" sz="28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 → SQL → Power BI)</a:t>
            </a:r>
            <a:endParaRPr lang="en-US" sz="28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3D686-05DB-47D6-AAFD-2A43828820FF}"/>
              </a:ext>
            </a:extLst>
          </p:cNvPr>
          <p:cNvSpPr txBox="1"/>
          <p:nvPr/>
        </p:nvSpPr>
        <p:spPr>
          <a:xfrm>
            <a:off x="426297" y="3237804"/>
            <a:ext cx="242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Explore,understand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, validate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B725B-33AD-457E-BAA4-57BBFA10ED4C}"/>
              </a:ext>
            </a:extLst>
          </p:cNvPr>
          <p:cNvSpPr txBox="1"/>
          <p:nvPr/>
        </p:nvSpPr>
        <p:spPr>
          <a:xfrm>
            <a:off x="3843811" y="3237804"/>
            <a:ext cx="242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Clean, transform, </a:t>
            </a:r>
          </a:p>
          <a:p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analyse</a:t>
            </a:r>
            <a:endParaRPr lang="en-US" sz="1600" b="1" dirty="0">
              <a:solidFill>
                <a:srgbClr val="0F5963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172A61-4023-4D64-95B8-CF11B3FB3C61}"/>
              </a:ext>
            </a:extLst>
          </p:cNvPr>
          <p:cNvSpPr txBox="1"/>
          <p:nvPr/>
        </p:nvSpPr>
        <p:spPr>
          <a:xfrm>
            <a:off x="9872231" y="3237804"/>
            <a:ext cx="242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Visualise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, present, deliver insights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C0CB3C-B484-4895-9DFF-EE3E0A292DDB}"/>
              </a:ext>
            </a:extLst>
          </p:cNvPr>
          <p:cNvSpPr txBox="1"/>
          <p:nvPr/>
        </p:nvSpPr>
        <p:spPr>
          <a:xfrm>
            <a:off x="7022996" y="3237804"/>
            <a:ext cx="242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Store, query, </a:t>
            </a:r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optimise</a:t>
            </a:r>
            <a:endParaRPr lang="en-US" sz="1600" b="1" dirty="0">
              <a:solidFill>
                <a:srgbClr val="0F5963"/>
              </a:solidFill>
              <a:latin typeface="Montserrat" panose="00000500000000000000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A9829C-86E7-4AD7-9070-097613F846B8}"/>
              </a:ext>
            </a:extLst>
          </p:cNvPr>
          <p:cNvCxnSpPr/>
          <p:nvPr/>
        </p:nvCxnSpPr>
        <p:spPr>
          <a:xfrm>
            <a:off x="2971888" y="2449626"/>
            <a:ext cx="600892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AE07C8-E4FA-48CE-80E0-B4244789CFD9}"/>
              </a:ext>
            </a:extLst>
          </p:cNvPr>
          <p:cNvCxnSpPr/>
          <p:nvPr/>
        </p:nvCxnSpPr>
        <p:spPr>
          <a:xfrm>
            <a:off x="5966526" y="2449626"/>
            <a:ext cx="600892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62CC20D-D530-4BEB-AF05-576D173D5611}"/>
              </a:ext>
            </a:extLst>
          </p:cNvPr>
          <p:cNvCxnSpPr/>
          <p:nvPr/>
        </p:nvCxnSpPr>
        <p:spPr>
          <a:xfrm>
            <a:off x="9104856" y="2449626"/>
            <a:ext cx="600892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2025B2C-CB50-4D3F-8644-DAC2B100B621}"/>
              </a:ext>
            </a:extLst>
          </p:cNvPr>
          <p:cNvSpPr txBox="1"/>
          <p:nvPr/>
        </p:nvSpPr>
        <p:spPr>
          <a:xfrm>
            <a:off x="235816" y="5101386"/>
            <a:ext cx="11461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C0000"/>
                </a:solidFill>
                <a:latin typeface="Montserrat" panose="00000500000000000000" pitchFamily="2" charset="0"/>
              </a:rPr>
              <a:t>Raw Data → Processing &amp; Analysis → Database → Dashboard &amp; Insights</a:t>
            </a:r>
          </a:p>
          <a:p>
            <a:endParaRPr lang="en-US" sz="1600" b="1" dirty="0">
              <a:solidFill>
                <a:srgbClr val="0F596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81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1567-243C-4CF8-971F-63B35EBE4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040" y="544407"/>
            <a:ext cx="9144000" cy="662006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Problem</a:t>
            </a:r>
            <a:r>
              <a:rPr lang="en-US" sz="4000" b="1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040" y="1442812"/>
            <a:ext cx="11226800" cy="500878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>
                <a:solidFill>
                  <a:srgbClr val="0F5963"/>
                </a:solidFill>
                <a:latin typeface="Montserrat" panose="020B0604020202020204" pitchFamily="2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Banks give loans to many customers, but some customers do not repay, which</a:t>
            </a:r>
          </a:p>
          <a:p>
            <a:pPr algn="l"/>
            <a:r>
              <a:rPr lang="en-US" b="1" dirty="0">
                <a:solidFill>
                  <a:srgbClr val="0F5963"/>
                </a:solidFill>
                <a:latin typeface="Montserrat" panose="020B0604020202020204" pitchFamily="2" charset="0"/>
                <a:ea typeface="Amazon Ember Medium" panose="020B0603020204030204" pitchFamily="34" charset="0"/>
                <a:cs typeface="Amazon Ember Medium" panose="020B0603020204030204" pitchFamily="34" charset="0"/>
              </a:rPr>
              <a:t> causes financial loss.</a:t>
            </a:r>
          </a:p>
          <a:p>
            <a:pPr algn="l"/>
            <a:endParaRPr lang="en-US" b="1" dirty="0">
              <a:solidFill>
                <a:srgbClr val="0F5963"/>
              </a:solidFill>
              <a:latin typeface="Montserrat" panose="020B0604020202020204" pitchFamily="2" charset="0"/>
              <a:ea typeface="Amazon Ember Medium" panose="020B0603020204030204" pitchFamily="34" charset="0"/>
              <a:cs typeface="Amazon Ember Medium" panose="020B0603020204030204" pitchFamily="34" charset="0"/>
            </a:endParaRPr>
          </a:p>
          <a:p>
            <a:pPr algn="l"/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This project aims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Analyze customer and loan-related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Identify key factors that influence default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Detect high-risk borrower profiles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Provide actionable insights that help minimize losses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Support better credit decision-making using data</a:t>
            </a:r>
          </a:p>
          <a:p>
            <a:pPr algn="l"/>
            <a:endParaRPr lang="en-US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Business Impact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Improve approval quality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Reduce risk exposure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Enhance credit policies using data-backed insights</a:t>
            </a:r>
          </a:p>
          <a:p>
            <a:pPr algn="l"/>
            <a:endParaRPr lang="en-US" b="1" dirty="0">
              <a:solidFill>
                <a:srgbClr val="0F5963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1567-243C-4CF8-971F-63B35EBE4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699" y="554424"/>
            <a:ext cx="8989620" cy="662006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Excel – Initial Data Understanding</a:t>
            </a:r>
            <a:endParaRPr lang="en-US" sz="3600" b="1" dirty="0">
              <a:solidFill>
                <a:srgbClr val="C0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040" y="1442812"/>
            <a:ext cx="11226800" cy="5008788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Before moving to Python, the dataset was first explored in Excel to perform basic validation and early insights.</a:t>
            </a:r>
          </a:p>
          <a:p>
            <a:pPr algn="l"/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 1. Data Import &amp; Structure Check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Loaded the raw dataset into Excel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Verified total rows, columns, and header format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Ensured no misaligned or broken columns</a:t>
            </a:r>
          </a:p>
          <a:p>
            <a:pPr algn="l"/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2. Basic Data Quality Checks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Used </a:t>
            </a: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filters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to spot blank cells, inconsistent values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Checked for </a:t>
            </a: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duplicate rows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using </a:t>
            </a:r>
            <a:r>
              <a:rPr lang="en-US" sz="2000" i="1" dirty="0">
                <a:solidFill>
                  <a:srgbClr val="0F5963"/>
                </a:solidFill>
                <a:latin typeface="Montserrat" panose="00000500000000000000" pitchFamily="2" charset="0"/>
              </a:rPr>
              <a:t>Remove Duplicates</a:t>
            </a:r>
          </a:p>
          <a:p>
            <a:pPr algn="l"/>
            <a:endParaRPr lang="en-US" sz="1800" i="1" dirty="0">
              <a:latin typeface="Montserrat" panose="00000500000000000000" pitchFamily="2" charset="0"/>
            </a:endParaRPr>
          </a:p>
          <a:p>
            <a:pPr algn="l"/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ownload Microsoft Excel Logo in SVG ...">
            <a:extLst>
              <a:ext uri="{FF2B5EF4-FFF2-40B4-BE49-F238E27FC236}">
                <a16:creationId xmlns:a16="http://schemas.microsoft.com/office/drawing/2014/main" id="{7B29A87A-1D9A-496E-8D1B-FFFC79664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05" y="397616"/>
            <a:ext cx="1435994" cy="95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07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1567-243C-4CF8-971F-63B35EBE4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695" y="522584"/>
            <a:ext cx="9144000" cy="662006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Excel – Initial Data Understanding</a:t>
            </a:r>
            <a:endParaRPr lang="en-US" sz="3600" b="1" dirty="0">
              <a:solidFill>
                <a:srgbClr val="C0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040" y="1337912"/>
            <a:ext cx="11226800" cy="511368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3. Quick Summary Using Excel Tools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Created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Pivot Tables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to review: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Loan Status distribution (Good vs Default)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Loan Purpose counts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Grade-wise loan distribution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Loan amount ranges</a:t>
            </a:r>
          </a:p>
          <a:p>
            <a:pPr lvl="1" algn="l"/>
            <a:endParaRPr lang="en-US" sz="19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4. Initial Trend &amp; Pattern Identification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Created quick charts: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Loan Amount histogram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Interest Rate distribution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Loan Purpose bar chart</a:t>
            </a:r>
          </a:p>
          <a:p>
            <a:pPr lvl="1" algn="l"/>
            <a:endParaRPr lang="en-US" sz="19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5. Export for Python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Cleaned file saved as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.xlsx / .csv</a:t>
            </a:r>
            <a:endParaRPr lang="en-US" sz="19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Handed over to Python for advanced cleaning &amp; EDA</a:t>
            </a:r>
          </a:p>
          <a:p>
            <a:pPr algn="l"/>
            <a:endParaRPr lang="en-US" sz="1800" i="1" dirty="0">
              <a:latin typeface="Montserrat" panose="00000500000000000000" pitchFamily="2" charset="0"/>
            </a:endParaRPr>
          </a:p>
          <a:p>
            <a:pPr algn="l"/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ownload Microsoft Excel Logo in SVG ...">
            <a:extLst>
              <a:ext uri="{FF2B5EF4-FFF2-40B4-BE49-F238E27FC236}">
                <a16:creationId xmlns:a16="http://schemas.microsoft.com/office/drawing/2014/main" id="{4B7023C5-47C8-4BB3-ACE8-B6FEF5107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17" y="382324"/>
            <a:ext cx="1435994" cy="95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120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40" y="1429922"/>
            <a:ext cx="11003280" cy="4940683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Dataset Overview</a:t>
            </a:r>
          </a:p>
          <a:p>
            <a:pPr algn="l"/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The dataset contains information about customers, their loan details, and their repayment status. It helps us understand the factors that influence whether a loan is repaid or defaulted.</a:t>
            </a:r>
          </a:p>
          <a:p>
            <a:pPr algn="l"/>
            <a:endParaRPr lang="en-US" sz="2000" b="1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Dataset Size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Total Rows: </a:t>
            </a:r>
            <a:r>
              <a:rPr lang="en-US" sz="2000" b="0" i="0" dirty="0">
                <a:solidFill>
                  <a:srgbClr val="0F5963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38576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Total Columns: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 </a:t>
            </a:r>
            <a:r>
              <a:rPr lang="en-US" sz="2000" b="0" i="0" dirty="0">
                <a:solidFill>
                  <a:srgbClr val="0F5963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24</a:t>
            </a:r>
          </a:p>
          <a:p>
            <a:pPr algn="l"/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Key Columns Include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Customer Information: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age, income, employment type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Details: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loan amount, interest rate, loan term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Financial Indicators: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credit score, debt-to-income ratio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Status: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Good loan / default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34625"/>
            <a:ext cx="9144001" cy="77565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Data Summary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5EF623DB-D93E-4A90-B8D6-1B226F282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" y="434625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24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668" y="423774"/>
            <a:ext cx="10880725" cy="77565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Data Cleaning &amp; Preparation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72AE2D8-20CB-4558-9B7D-592058269A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0988" y="1365355"/>
            <a:ext cx="11210023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1. Missing Values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Checked missing values in all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The column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emp_title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 had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Filled missing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emp_title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"Unknown“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2. Duplicate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Verified for duplicated entries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Total duplicate rows: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3. Outlier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Identified outliers using boxplots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Outliers were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not removed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, kept for analysis to avoid data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4. Fixing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Converted date-related columns into proper datetime format: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issue_date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last_credit_pull_date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last_payment_date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next_payment_date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49E9302B-452E-4188-90DA-D6AC33B02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88" y="392930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2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1567-243C-4CF8-971F-63B35EBE4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902" y="382664"/>
            <a:ext cx="10180320" cy="761999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Dependent Variable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D99EFB-AF7A-4562-B2F0-C4B1C5CBF2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9351" y="1420319"/>
            <a:ext cx="1111504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📌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loan_status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 (Good Loan vs Default Loan)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This column tells you whether a borrower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repaid the loan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defaulted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F596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F5963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1F96F3-81EE-4DB0-B22C-5732680B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2600066"/>
            <a:ext cx="9083040" cy="3757700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24D2E03B-12F5-4852-A6BD-24D3B11A0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22" y="387275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408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40" y="1378837"/>
            <a:ext cx="11003280" cy="4940683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599" y="441214"/>
            <a:ext cx="9144001" cy="77565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Exploratory Data Analysis (EDA)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ED44D0-0F4C-42B9-A73C-112FD8008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381988"/>
            <a:ext cx="11267440" cy="4006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A182FD-337D-4C53-B1A6-225D759AC064}"/>
              </a:ext>
            </a:extLst>
          </p:cNvPr>
          <p:cNvSpPr txBox="1"/>
          <p:nvPr/>
        </p:nvSpPr>
        <p:spPr>
          <a:xfrm>
            <a:off x="599440" y="5331197"/>
            <a:ext cx="111048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Montserrat" panose="00000500000000000000" pitchFamily="2" charset="0"/>
              </a:rPr>
              <a:t>Loan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Most loan amounts lie between </a:t>
            </a:r>
            <a:r>
              <a:rPr lang="en-US" sz="1600" b="1" dirty="0">
                <a:solidFill>
                  <a:srgbClr val="333333"/>
                </a:solidFill>
                <a:latin typeface="Montserrat" panose="00000500000000000000" pitchFamily="2" charset="0"/>
              </a:rPr>
              <a:t>$5,000 and $15,000</a:t>
            </a: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The distribution is </a:t>
            </a:r>
            <a:r>
              <a:rPr lang="en-US" sz="1600" b="1" dirty="0">
                <a:solidFill>
                  <a:srgbClr val="333333"/>
                </a:solidFill>
                <a:latin typeface="Montserrat" panose="00000500000000000000" pitchFamily="2" charset="0"/>
              </a:rPr>
              <a:t>right-skewed</a:t>
            </a: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, meaning some customers take very high loan amounts.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Boxplot shows </a:t>
            </a:r>
            <a:r>
              <a:rPr lang="en-US" sz="1600" b="1" dirty="0">
                <a:solidFill>
                  <a:srgbClr val="333333"/>
                </a:solidFill>
                <a:latin typeface="Montserrat" panose="00000500000000000000" pitchFamily="2" charset="0"/>
              </a:rPr>
              <a:t>clear outliers</a:t>
            </a: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, but we did </a:t>
            </a:r>
            <a:r>
              <a:rPr lang="en-US" sz="1600" b="1" dirty="0">
                <a:solidFill>
                  <a:srgbClr val="333333"/>
                </a:solidFill>
                <a:latin typeface="Montserrat" panose="00000500000000000000" pitchFamily="2" charset="0"/>
              </a:rPr>
              <a:t>not remove them</a:t>
            </a: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 because they represent real high-value loans</a:t>
            </a: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6FCAD4F5-5ED0-4E8A-B4EE-8BCE313AA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07" y="418717"/>
            <a:ext cx="871225" cy="87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24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40" y="1378837"/>
            <a:ext cx="11003280" cy="4940683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275" y="411668"/>
            <a:ext cx="9144001" cy="77565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Exploratory Data Analysis </a:t>
            </a:r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(Continued)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F00C8E-50F6-4029-96A5-4AA97FFF2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" y="1228159"/>
            <a:ext cx="11460480" cy="402924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2D22DEEB-69A1-41A1-A4B3-7C5ED8BF2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629841"/>
            <a:ext cx="2407920" cy="58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E649C-30C0-4648-9471-713A44E2C55C}"/>
              </a:ext>
            </a:extLst>
          </p:cNvPr>
          <p:cNvSpPr txBox="1"/>
          <p:nvPr/>
        </p:nvSpPr>
        <p:spPr>
          <a:xfrm>
            <a:off x="559067" y="5257402"/>
            <a:ext cx="11211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Interest rates are mostly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8% and 14%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The distribution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slightly 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, with a few customers getting higher interest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Outliers are present at the upper end (18%–24%).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These outliers are expected due to risk-based pricing.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9FF4A2-CECC-4559-B52D-D2D74E775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" y="359479"/>
            <a:ext cx="86868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7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40" y="5008880"/>
            <a:ext cx="11074400" cy="1393524"/>
          </a:xfrm>
        </p:spPr>
        <p:txBody>
          <a:bodyPr>
            <a:noAutofit/>
          </a:bodyPr>
          <a:lstStyle/>
          <a:p>
            <a:pPr algn="l"/>
            <a:endParaRPr lang="en-US" sz="18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Most DTI values lie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8%–18%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Distribution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slightly 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Median DTI ≈ 13%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Few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high DTI cases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,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no major outliers</a:t>
            </a:r>
            <a:endParaRPr lang="en-US" sz="1800" dirty="0">
              <a:solidFill>
                <a:srgbClr val="333333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039" y="410946"/>
            <a:ext cx="9144001" cy="77565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Exploratory Data Analysis </a:t>
            </a:r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(Continued)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D22DEEB-69A1-41A1-A4B3-7C5ED8BF2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629841"/>
            <a:ext cx="2407920" cy="58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729610-5922-4733-A476-EFAC0B33D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1289538"/>
            <a:ext cx="11206480" cy="39797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7A9BA-2138-40C4-BC4C-FD03C173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410946"/>
            <a:ext cx="86868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524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462" y="367071"/>
            <a:ext cx="9144001" cy="77565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Exploratory Data Analysis </a:t>
            </a:r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(Continued)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D22DEEB-69A1-41A1-A4B3-7C5ED8BF2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629841"/>
            <a:ext cx="2407920" cy="58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21B85F4-34EA-4D15-840D-E585D0DB64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9440" y="5202075"/>
            <a:ext cx="104006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Higher grades (A, B, C)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very low Charged-Off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Lower grades (D, E, F, G)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increasing default (Charged-Off) percentages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Most loans across all grades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Fully Paid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, but risk clearly increases as grade decreases.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This confirms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loan grade is strongly linked to credit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71C33-DA36-4E7A-A08B-B49E5BE03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1245771"/>
            <a:ext cx="10647681" cy="3956304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A004BE69-9612-4BCE-820E-D2D57B1E8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82" y="367071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68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657" y="443260"/>
            <a:ext cx="9144001" cy="77565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Exploratory Data Analysis </a:t>
            </a:r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(Continued)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D22DEEB-69A1-41A1-A4B3-7C5ED8BF2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629841"/>
            <a:ext cx="2407920" cy="58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25BCC9-0FCD-418B-AD7C-CC75F26D8B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9440" y="5072664"/>
            <a:ext cx="110642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Debt Consolidation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is the most common loan purpose; it also has a high number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Charged-Off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loans.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Credit Card, Home Improvement, and Other categories also show moderate levels of default.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Very few loans across all categories remain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Current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Loan purpose can help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high-risk borrower segments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CC03B7-F9FA-4ECF-BBDC-EF42B6659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1354165"/>
            <a:ext cx="10708640" cy="3595583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DE9D6C26-2112-49C4-9FDF-117149FD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79" y="400305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45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269507" y="308008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120" y="381802"/>
            <a:ext cx="9144001" cy="77565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Exploratory Data Analysis </a:t>
            </a:r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(Continued)</a:t>
            </a:r>
            <a:endParaRPr lang="en-US" sz="36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D22DEEB-69A1-41A1-A4B3-7C5ED8BF2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629841"/>
            <a:ext cx="2407920" cy="58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8F31E-139B-4A11-BA7A-6AEDE7629F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8936" y="5213827"/>
            <a:ext cx="99774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Installment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Loan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very high correlation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Total Payment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is strongly correlated with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Loan Amount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Installment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Annual 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DTI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Interest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weak correlations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with other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No strong multicollinearity issues except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Loan Amount ↔ Installment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 pair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73E21-63F6-484C-9390-7326779D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1231249"/>
            <a:ext cx="9977411" cy="3885237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197580CD-F19F-46EE-A3D9-6581A293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" y="388905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534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40" y="1534160"/>
            <a:ext cx="11104880" cy="4785360"/>
          </a:xfrm>
        </p:spPr>
        <p:txBody>
          <a:bodyPr>
            <a:normAutofit/>
          </a:bodyPr>
          <a:lstStyle/>
          <a:p>
            <a:pPr algn="l"/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Status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Dataset is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imbalanced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→ ~83% Good Loans, ~17% Bad Loans.</a:t>
            </a:r>
          </a:p>
          <a:p>
            <a:pPr algn="l"/>
            <a:endParaRPr lang="en-US" sz="19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Amount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Most loan amounts fall between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$5K–$15K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Higher loan amounts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are more common in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Current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loans.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Borrowers with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higher loan amounts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are more likely to be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Charged Off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/>
            <a:endParaRPr lang="en-US" sz="1900" b="1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Interest Rate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Charged-off loans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have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higher interest rates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Fully Paid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 loans have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lower interest rates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Higher interest rates increase the chance of </a:t>
            </a:r>
            <a:r>
              <a:rPr lang="en-US" sz="1900" b="1" dirty="0">
                <a:solidFill>
                  <a:srgbClr val="0F5963"/>
                </a:solidFill>
                <a:latin typeface="Montserrat" panose="00000500000000000000" pitchFamily="2" charset="0"/>
              </a:rPr>
              <a:t>default</a:t>
            </a:r>
            <a:r>
              <a:rPr lang="en-US" sz="19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8279" y="879565"/>
            <a:ext cx="9144001" cy="804529"/>
          </a:xfrm>
        </p:spPr>
        <p:txBody>
          <a:bodyPr>
            <a:normAutofit fontScale="90000"/>
          </a:bodyPr>
          <a:lstStyle/>
          <a:p>
            <a:pPr algn="l"/>
            <a:br>
              <a:rPr lang="en-US" sz="11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</a:br>
            <a:br>
              <a:rPr lang="en-US" sz="11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</a:br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Key</a:t>
            </a:r>
            <a:r>
              <a:rPr lang="en-US" sz="40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 </a:t>
            </a:r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Insights</a:t>
            </a:r>
            <a:r>
              <a:rPr lang="en-US" sz="40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 </a:t>
            </a:r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from EDA</a:t>
            </a:r>
            <a:br>
              <a:rPr lang="en-US" sz="1100" dirty="0"/>
            </a:br>
            <a:endParaRPr lang="en-US" sz="40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1B8872A6-716E-4735-99FB-E706955AF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74" y="516709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8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90E2AA-2BC4-4827-B2FC-214BE3D3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40" y="1534160"/>
            <a:ext cx="11104880" cy="500888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DTI (Debt-to-Income Ratio)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Charged-off borrowers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 have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higher DTI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 than Fully Paid borrowers.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Higher DTI increases the likelihood of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default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/>
            <a:endParaRPr lang="en-US" sz="18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Grade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Lower grades (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E, F, G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) show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higher default rates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Higher grades (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A, B, C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) indicate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lower risk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/>
            <a:endParaRPr lang="en-US" sz="18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Purpose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Debt Consolidation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 is the largest category and has the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most defaults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Other risky purposes: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Credit Card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Home Improvement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Other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/>
            <a:endParaRPr lang="en-US" sz="18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Correlation Insights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Loan Amount ↔ Installment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 show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very high correlation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All other numerical features show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weak correlation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 → </a:t>
            </a:r>
            <a:r>
              <a:rPr lang="en-US" sz="1800" b="1" dirty="0">
                <a:solidFill>
                  <a:srgbClr val="0F5963"/>
                </a:solidFill>
                <a:latin typeface="Montserrat" panose="00000500000000000000" pitchFamily="2" charset="0"/>
              </a:rPr>
              <a:t>no multicollinearity issues</a:t>
            </a:r>
            <a:r>
              <a:rPr lang="en-US" sz="18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4CD7C-B135-47B3-881E-75BC165D5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836" y="968752"/>
            <a:ext cx="9144001" cy="804529"/>
          </a:xfrm>
        </p:spPr>
        <p:txBody>
          <a:bodyPr>
            <a:normAutofit fontScale="90000"/>
          </a:bodyPr>
          <a:lstStyle/>
          <a:p>
            <a:pPr algn="l"/>
            <a:br>
              <a:rPr lang="en-US" sz="11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</a:br>
            <a:br>
              <a:rPr lang="en-US" sz="11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</a:br>
            <a:r>
              <a:rPr lang="en-US" sz="44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Key</a:t>
            </a:r>
            <a:r>
              <a:rPr lang="en-US" sz="44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 </a:t>
            </a:r>
            <a:r>
              <a:rPr lang="en-US" sz="44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Insights from EDA</a:t>
            </a:r>
            <a:r>
              <a:rPr lang="en-US" sz="4400" dirty="0"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 </a:t>
            </a:r>
            <a:br>
              <a:rPr lang="en-US" sz="1100" dirty="0"/>
            </a:br>
            <a:endParaRPr lang="en-US" sz="4000" b="1" dirty="0">
              <a:solidFill>
                <a:srgbClr val="CC0000"/>
              </a:solidFill>
              <a:latin typeface="Amazon Ember Display Heavy" panose="020F0803020204020204" pitchFamily="34" charset="0"/>
              <a:ea typeface="Amazon Ember Display Heavy" panose="020F0803020204020204" pitchFamily="34" charset="0"/>
              <a:cs typeface="Amazon Ember Display Heavy" panose="020F0803020204020204" pitchFamily="34" charset="0"/>
            </a:endParaRP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394CCA80-2281-4B00-92FD-E69C05E92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56" y="534412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19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6962" y="572635"/>
            <a:ext cx="10789920" cy="73849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Feature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509C2-10E7-41A1-AE27-5862EB2013DD}"/>
              </a:ext>
            </a:extLst>
          </p:cNvPr>
          <p:cNvSpPr txBox="1"/>
          <p:nvPr/>
        </p:nvSpPr>
        <p:spPr>
          <a:xfrm>
            <a:off x="548640" y="1509756"/>
            <a:ext cx="110947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1. Date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Extracted </a:t>
            </a:r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issue_year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and </a:t>
            </a:r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issue_month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from the loan issue date</a:t>
            </a:r>
            <a:b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→ helps analyze trends over time.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2. Income Bucketing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Grouped annual income into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Low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Medium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High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and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Very High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categories</a:t>
            </a:r>
            <a:b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→ simplifies analysis and improves model interpretability.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3. Income-to-Loan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Created a new feature: </a:t>
            </a:r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income_to_loan_ratio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 = </a:t>
            </a:r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annual_income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 / </a:t>
            </a:r>
            <a:r>
              <a:rPr lang="en-US" sz="1600" b="1" dirty="0" err="1">
                <a:solidFill>
                  <a:srgbClr val="0F5963"/>
                </a:solidFill>
                <a:latin typeface="Montserrat" panose="00000500000000000000" pitchFamily="2" charset="0"/>
              </a:rPr>
              <a:t>loan_amount</a:t>
            </a:r>
            <a:b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→ captures borrower repayment capacity more effectively.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4. DTI Bucketing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Converted continuous DTI values into risk buckets</a:t>
            </a:r>
            <a:b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→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Low DTI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Medium DTI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High DTI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groups.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5. Interest Rate Bucketing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Converted continuous interest rates into labeled buckets such as:</a:t>
            </a:r>
            <a:b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</a:b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Low (≤10%)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Medium (10–15%)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High (&gt;15%)</a:t>
            </a:r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Helps group borrowers based on the cost of borrowing, making it easier to analyze default patterns.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A0AD8E99-E852-443A-B5AA-67A33B17F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82" y="548336"/>
            <a:ext cx="868680" cy="86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020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55596"/>
            <a:ext cx="9144000" cy="73849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Visual Insights from Dashboards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D139B9-0116-4674-9017-35E35C8B714B}"/>
              </a:ext>
            </a:extLst>
          </p:cNvPr>
          <p:cNvSpPr txBox="1"/>
          <p:nvPr/>
        </p:nvSpPr>
        <p:spPr>
          <a:xfrm>
            <a:off x="9083040" y="92456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D451315E-7F17-4B18-9E8E-E5C105609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AD14926-B590-46BD-B8A7-51F99ADE3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293892"/>
            <a:ext cx="10718800" cy="513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60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89280"/>
            <a:ext cx="10789920" cy="73849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Visual Insights from Dashboards (Continued)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68BBC-E025-4D76-9CEB-6E03BF84B8B3}"/>
              </a:ext>
            </a:extLst>
          </p:cNvPr>
          <p:cNvSpPr txBox="1"/>
          <p:nvPr/>
        </p:nvSpPr>
        <p:spPr>
          <a:xfrm>
            <a:off x="629920" y="1461461"/>
            <a:ext cx="110337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Insights from Summary Dashboard</a:t>
            </a:r>
          </a:p>
          <a:p>
            <a:endParaRPr lang="en-US" b="1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1. High Loan Success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86.18% of all loans issued are Good Loans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, indicating strong repayment behavior.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2. Default Level is Moderate but Significant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13.82% loans are in default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, resulting in </a:t>
            </a: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$65.53M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 total defaulted amount.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3. Good Loans Drive Most of the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Good loans recovered </a:t>
            </a: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$435.79M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, far higher than other segments.</a:t>
            </a:r>
          </a:p>
          <a:p>
            <a:endParaRPr lang="en-US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4. Interest Rate Difference Explains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Charged-off loans have </a:t>
            </a: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higher interest rates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 (13.88%+) compared to Fully Paid (11.64%).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5. Loan Purpose &amp; Grade Affect Risk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Filters (Grade &amp; Purpose) allow identifying high-risk segments like </a:t>
            </a: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lower grades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 and </a:t>
            </a:r>
            <a:r>
              <a:rPr lang="en-US" b="1" dirty="0">
                <a:solidFill>
                  <a:srgbClr val="0F5963"/>
                </a:solidFill>
                <a:latin typeface="Montserrat" panose="00000500000000000000" pitchFamily="2" charset="0"/>
              </a:rPr>
              <a:t>Debt Consolidation</a:t>
            </a:r>
            <a:r>
              <a:rPr lang="en-US" dirty="0">
                <a:solidFill>
                  <a:srgbClr val="0F5963"/>
                </a:solidFill>
                <a:latin typeface="Montserrat" panose="00000500000000000000" pitchFamily="2" charset="0"/>
              </a:rPr>
              <a:t> loans.</a:t>
            </a:r>
          </a:p>
        </p:txBody>
      </p:sp>
    </p:spTree>
    <p:extLst>
      <p:ext uri="{BB962C8B-B14F-4D97-AF65-F5344CB8AC3E}">
        <p14:creationId xmlns:p14="http://schemas.microsoft.com/office/powerpoint/2010/main" val="3161645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89280"/>
            <a:ext cx="10789920" cy="73849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Visual Insights from Dashboards 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242DE0-7DCD-4863-8D0D-5A394707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52" y="1272459"/>
            <a:ext cx="10789920" cy="512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64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89280"/>
            <a:ext cx="10789920" cy="73849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CC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Visual Insights from Dashboards (Continued)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68BBC-E025-4D76-9CEB-6E03BF84B8B3}"/>
              </a:ext>
            </a:extLst>
          </p:cNvPr>
          <p:cNvSpPr txBox="1"/>
          <p:nvPr/>
        </p:nvSpPr>
        <p:spPr>
          <a:xfrm>
            <a:off x="629920" y="1461461"/>
            <a:ext cx="111353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Insights from Overview Dashboard</a:t>
            </a:r>
          </a:p>
          <a:p>
            <a:endParaRPr lang="en-US" sz="1600" b="1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1. Default Rate is Gradually Increasing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Monthly trend shows defaults rising from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0.3K in Jan to 0.6K in Dec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→ consistent upward risk pattern.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2. State-wise Defaults Vary Significantly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Some states show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very high default concentration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while others remain low → geographic risk differences.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3. Longer Loan Terms Have Higher Default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60-month loans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default more than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36-month loans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→ longer commitments increase risk.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4. Certain Loan Purposes Are High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Highest defaults come from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Other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Small Business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, and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Debt Consolidation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categories.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5. Employment Length Doesn't Guarantee Low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Even borrowers with </a:t>
            </a:r>
            <a:r>
              <a:rPr lang="en-US" sz="1600" b="1" dirty="0">
                <a:solidFill>
                  <a:srgbClr val="0F5963"/>
                </a:solidFill>
                <a:latin typeface="Montserrat" panose="00000500000000000000" pitchFamily="2" charset="0"/>
              </a:rPr>
              <a:t>10+ years experience</a:t>
            </a:r>
            <a:r>
              <a:rPr lang="en-US" sz="1600" dirty="0">
                <a:solidFill>
                  <a:srgbClr val="0F5963"/>
                </a:solidFill>
                <a:latin typeface="Montserrat" panose="00000500000000000000" pitchFamily="2" charset="0"/>
              </a:rPr>
              <a:t> show high defaults → stability doesn’t always mean safe borrowing.</a:t>
            </a:r>
          </a:p>
          <a:p>
            <a:endParaRPr lang="en-US" dirty="0">
              <a:solidFill>
                <a:srgbClr val="0F596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07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89280"/>
            <a:ext cx="10789920" cy="73849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Final Recommendations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509C2-10E7-41A1-AE27-5862EB2013DD}"/>
              </a:ext>
            </a:extLst>
          </p:cNvPr>
          <p:cNvSpPr txBox="1"/>
          <p:nvPr/>
        </p:nvSpPr>
        <p:spPr>
          <a:xfrm>
            <a:off x="548640" y="1566952"/>
            <a:ext cx="1109472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Tighten loan approval rules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for high-risk segments (low grades: E, F, G).</a:t>
            </a:r>
          </a:p>
          <a:p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Increase interest rates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or add stricter checks for borrowers with </a:t>
            </a: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high DTI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or </a:t>
            </a: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high loan amounts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.</a:t>
            </a:r>
          </a:p>
          <a:p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Strengthen verification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for high-risk loan purposes (Debt Consolidation, Small Business, Other)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Promote shorter loan terms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(36-month) to reduce default probability.</a:t>
            </a:r>
          </a:p>
          <a:p>
            <a:endParaRPr lang="en-US" sz="2000" dirty="0">
              <a:solidFill>
                <a:srgbClr val="0F5963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5963"/>
                </a:solidFill>
                <a:latin typeface="Montserrat" panose="00000500000000000000" pitchFamily="2" charset="0"/>
              </a:rPr>
              <a:t>Use automated alerts</a:t>
            </a:r>
            <a:r>
              <a:rPr lang="en-US" sz="2000" dirty="0">
                <a:solidFill>
                  <a:srgbClr val="0F5963"/>
                </a:solidFill>
                <a:latin typeface="Montserrat" panose="00000500000000000000" pitchFamily="2" charset="0"/>
              </a:rPr>
              <a:t> for risky profiles (high DTI, high interest rate, long loan term).</a:t>
            </a:r>
          </a:p>
          <a:p>
            <a:endParaRPr lang="en-US" sz="1600" dirty="0">
              <a:solidFill>
                <a:srgbClr val="0F596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558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DC749-B83B-4825-8E59-E41BAE25CF1E}"/>
              </a:ext>
            </a:extLst>
          </p:cNvPr>
          <p:cNvSpPr/>
          <p:nvPr/>
        </p:nvSpPr>
        <p:spPr>
          <a:xfrm>
            <a:off x="340627" y="455596"/>
            <a:ext cx="11652986" cy="62467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01B907-336C-467F-9968-B44395FC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89280"/>
            <a:ext cx="10789920" cy="73849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E4485-2BD9-4379-ACC2-B4CB9EFA7089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22CC620-8123-432A-BF9F-7A12585D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93" y="1540639"/>
            <a:ext cx="108658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applications, borrower profiles, and repayment behavior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Python and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patterns emerged: higher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interest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lower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certain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purposes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default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help the business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approval policies, identify high-risk customers, and reduce default losses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analysis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smarter credit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better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risk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244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1601</Words>
  <Application>Microsoft Office PowerPoint</Application>
  <PresentationFormat>Widescreen</PresentationFormat>
  <Paragraphs>222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Amazon Ember Display Heavy</vt:lpstr>
      <vt:lpstr>Arial</vt:lpstr>
      <vt:lpstr>Calibri</vt:lpstr>
      <vt:lpstr>Calibri Light</vt:lpstr>
      <vt:lpstr>Cascadia Code SemiBold</vt:lpstr>
      <vt:lpstr>Montserrat</vt:lpstr>
      <vt:lpstr>Office Theme</vt:lpstr>
      <vt:lpstr>Loan Analysis &amp; Insights for Risk Identification</vt:lpstr>
      <vt:lpstr>End-to-End Data Analysis Workflow  (Excel → Python → SQL → Power BI)</vt:lpstr>
      <vt:lpstr>Problem Statement</vt:lpstr>
      <vt:lpstr>Excel – Initial Data Understanding</vt:lpstr>
      <vt:lpstr>Excel – Initial Data Understanding</vt:lpstr>
      <vt:lpstr>Data Summary</vt:lpstr>
      <vt:lpstr>Data Cleaning &amp; Preparation</vt:lpstr>
      <vt:lpstr>Dependent Variable</vt:lpstr>
      <vt:lpstr>Exploratory Data Analysis (EDA)</vt:lpstr>
      <vt:lpstr>Exploratory Data Analysis (Continued)</vt:lpstr>
      <vt:lpstr>Exploratory Data Analysis (Continued)</vt:lpstr>
      <vt:lpstr>Exploratory Data Analysis (Continued)</vt:lpstr>
      <vt:lpstr>Exploratory Data Analysis (Continued)</vt:lpstr>
      <vt:lpstr>Exploratory Data Analysis (Continued)</vt:lpstr>
      <vt:lpstr>  Key Insights from EDA </vt:lpstr>
      <vt:lpstr>  Key Insights from EDA  </vt:lpstr>
      <vt:lpstr>Feature Engineering</vt:lpstr>
      <vt:lpstr>Visual Insights from Dashboards</vt:lpstr>
      <vt:lpstr>Visual Insights from Dashboards (Continued)</vt:lpstr>
      <vt:lpstr>Visual Insights from Dashboards (Continued)</vt:lpstr>
      <vt:lpstr>Visual Insights from Dashboards (Continued)</vt:lpstr>
      <vt:lpstr>Final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KUMAR</dc:creator>
  <cp:lastModifiedBy>SANDEEP KUMAR</cp:lastModifiedBy>
  <cp:revision>38</cp:revision>
  <dcterms:created xsi:type="dcterms:W3CDTF">2025-11-28T04:27:58Z</dcterms:created>
  <dcterms:modified xsi:type="dcterms:W3CDTF">2025-12-02T14:45:04Z</dcterms:modified>
</cp:coreProperties>
</file>